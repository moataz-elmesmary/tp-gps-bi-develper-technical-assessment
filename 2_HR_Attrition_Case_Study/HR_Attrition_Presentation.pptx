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20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7334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237 people out of 1,470, and roughly 6.8 million dollars to replace them at six months of salary each. But the average misleads. Overtime staff are a quarter of the workforce and more than half the losses. Three roles account for 60%. A third leave in year one. That concentration is actually good news </a:t>
            </a:r>
            <a:r>
              <a:rPr lang="en-US" dirty="0"/>
              <a:t>-</a:t>
            </a:r>
            <a:r>
              <a:rPr dirty="0"/>
              <a:t> it means a short targeted list, not a company-wide </a:t>
            </a:r>
            <a:r>
              <a:rPr dirty="0" err="1"/>
              <a:t>programme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Ranked by rate, Sales Representatives are worst at nearly 40% </a:t>
            </a:r>
            <a:r>
              <a:rPr lang="en-US" dirty="0"/>
              <a:t>-</a:t>
            </a:r>
            <a:r>
              <a:rPr dirty="0"/>
              <a:t> that role turns over completely every two and a half years. But look at the second box: R&amp;D has the lowest rate of any department and still supplies 56% of all leavers, because it holds two thirds of the people. If we ranked only by rate we would send the budget to Sales and miss where most of the cost is. That is why I would set targets on count.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Overtime is the strongest factor in the data. 30.5% against 10.4% </a:t>
            </a:r>
            <a:r>
              <a:rPr lang="en-US" dirty="0"/>
              <a:t>-</a:t>
            </a:r>
            <a:r>
              <a:rPr dirty="0"/>
              <a:t> 2.9 times the risk. They are 28% of the workforce and 54% of the losses, and the chi-square is the highest of anything we tested, ahead of job role. Here is the size of the prize: if that group left at the normal rate we would lose 43 instead of 127. That is 84 exits a year, a third of our total attrition, for a policy change rather than a budget line.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the important part: these factors do not add, they multiply. Overtime plus low pay is 68.6% </a:t>
            </a:r>
            <a:r>
              <a:rPr lang="en-US" dirty="0"/>
              <a:t>-</a:t>
            </a:r>
            <a:r>
              <a:rPr dirty="0"/>
              <a:t> those employees are more likely to leave than to stay. Overtime plus entry level is 52.6%, and that one cell is only 156 people yet produces a third of all our attrition. That is the precision we can act at — not 'improve engagement', but a named list of 156 people that the dashboard already generates.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Pay shows a clean gradient </a:t>
            </a:r>
            <a:r>
              <a:rPr lang="en-US" dirty="0"/>
              <a:t>-</a:t>
            </a:r>
            <a:r>
              <a:rPr dirty="0"/>
              <a:t> attrition falls nine-fold from the lowest band to the highest, and a gradient that clean is what separates a cause from a coincidence. Leavers earned 30% less than stayers. Equity is sharper still: 24.4% with no stock options against 9.4% with one level, and 65% of everyone who left held none. The whole effect is in the first grant, which makes it a cheap intervention.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Timing matters as much as money. Nearly 35% of first-year employees leave, and juniors leave three times more than seniors. When a new joiner is also given overtime we lose every second one. Every one of those is recruiting and onboarding cost written off before it returns anything </a:t>
            </a:r>
            <a:r>
              <a:rPr lang="en-US" dirty="0"/>
              <a:t>-</a:t>
            </a:r>
            <a:r>
              <a:rPr dirty="0"/>
              <a:t> which is why the first-year action sits in the quick wins.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Sequenced by what it costs. The first three months are policy only </a:t>
            </a:r>
            <a:r>
              <a:rPr lang="en-US" dirty="0"/>
              <a:t>-</a:t>
            </a:r>
            <a:r>
              <a:rPr dirty="0"/>
              <a:t> overtime caps, no routine overtime for Sales Reps, triage of only the bottom satisfaction scores, and a rebuilt report. Months three to nine is where money goes in, and only where the data says it pays back. Beyond that it is structural: a published promotion path, manager continuity, and a merit matrix that actually differentiates — because right now we pay our top performers and our flight risks the same raise.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To close. Overtime governance alone is worth about 84 prevented exits, a third of our attrition. First-year protection another 35. Pay and equity between 55 and 70. I would not add those up, because the </a:t>
            </a:r>
            <a:r>
              <a:rPr dirty="0" err="1"/>
              <a:t>programmes</a:t>
            </a:r>
            <a:r>
              <a:rPr dirty="0"/>
              <a:t> </a:t>
            </a:r>
            <a:r>
              <a:t>overlap </a:t>
            </a:r>
            <a:r>
              <a:rPr lang="en-US"/>
              <a:t>-</a:t>
            </a:r>
            <a:r>
              <a:t> </a:t>
            </a:r>
            <a:r>
              <a:rPr dirty="0"/>
              <a:t>the same person can sit in two of them. The honest combined target is 16.1% down to 10 or 11% within twelve to eighteen months. There is a what-if page in the report where you can move the overtime slider yourself and watch those numbers change.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B55"/>
        </a:solidFill>
        <a:effectLst/>
      </p:bgPr>
    </p:bg>
    <p:spTree>
      <p:nvGrpSpPr>
        <p:cNvPr id="1" name=""/>
        <p:cNvGrpSpPr/>
        <p:nvPr/>
      </p:nvGrpSpPr>
      <p:grpSpPr>
        <a:xfrm>
          <a:off x="0" y="0"/>
          <a:ext cx="0" cy="0"/>
          <a:chOff x="0" y="0"/>
          <a:chExt cx="0" cy="0"/>
        </a:xfrm>
      </p:grpSpPr>
      <p:sp>
        <p:nvSpPr>
          <p:cNvPr id="2" name="Rounded Rectangle 1"/>
          <p:cNvSpPr/>
          <p:nvPr/>
        </p:nvSpPr>
        <p:spPr>
          <a:xfrm>
            <a:off x="914400" y="2011680"/>
            <a:ext cx="54864" cy="502920"/>
          </a:xfrm>
          <a:prstGeom prst="roundRect">
            <a:avLst/>
          </a:prstGeom>
          <a:solidFill>
            <a:srgbClr val="00A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70432" y="1920240"/>
            <a:ext cx="10058400" cy="1667123"/>
          </a:xfrm>
          <a:prstGeom prst="rect">
            <a:avLst/>
          </a:prstGeom>
          <a:noFill/>
        </p:spPr>
        <p:txBody>
          <a:bodyPr wrap="square" lIns="0" tIns="0" rIns="0" bIns="0" anchor="t">
            <a:spAutoFit/>
          </a:bodyPr>
          <a:lstStyle/>
          <a:p>
            <a:pPr algn="l">
              <a:spcBef>
                <a:spcPts val="0"/>
              </a:spcBef>
              <a:spcAft>
                <a:spcPts val="400"/>
              </a:spcAft>
            </a:pPr>
            <a:r>
              <a:rPr sz="5000" b="1" i="0" dirty="0">
                <a:solidFill>
                  <a:srgbClr val="FFFFFF"/>
                </a:solidFill>
                <a:latin typeface="Calibri"/>
              </a:rPr>
              <a:t>HR Attrition</a:t>
            </a:r>
          </a:p>
          <a:p>
            <a:pPr algn="l">
              <a:spcBef>
                <a:spcPts val="0"/>
              </a:spcBef>
              <a:spcAft>
                <a:spcPts val="2400"/>
              </a:spcAft>
            </a:pPr>
            <a:r>
              <a:rPr sz="2100" b="0" i="0" dirty="0">
                <a:solidFill>
                  <a:srgbClr val="B8CFE6"/>
                </a:solidFill>
                <a:latin typeface="Calibri"/>
              </a:rPr>
              <a:t>Where we lose people, why, and what to do about it</a:t>
            </a:r>
          </a:p>
          <a:p>
            <a:pPr algn="l">
              <a:spcBef>
                <a:spcPts val="0"/>
              </a:spcBef>
              <a:spcAft>
                <a:spcPts val="0"/>
              </a:spcAft>
            </a:pPr>
            <a:r>
              <a:rPr sz="1400" b="0" i="0" dirty="0">
                <a:solidFill>
                  <a:srgbClr val="7FA3C4"/>
                </a:solidFill>
                <a:latin typeface="Calibri"/>
              </a:rPr>
              <a:t>Moataz Elmesmary   ·   BI Developer Case Study</a:t>
            </a:r>
          </a:p>
        </p:txBody>
      </p:sp>
      <p:sp>
        <p:nvSpPr>
          <p:cNvPr id="4" name="TextBox 3"/>
          <p:cNvSpPr txBox="1"/>
          <p:nvPr/>
        </p:nvSpPr>
        <p:spPr>
          <a:xfrm>
            <a:off x="1170432" y="5577840"/>
            <a:ext cx="10058400" cy="731520"/>
          </a:xfrm>
          <a:prstGeom prst="rect">
            <a:avLst/>
          </a:prstGeom>
          <a:noFill/>
        </p:spPr>
        <p:txBody>
          <a:bodyPr wrap="square" lIns="0" tIns="0" rIns="0" bIns="0" anchor="t">
            <a:spAutoFit/>
          </a:bodyPr>
          <a:lstStyle/>
          <a:p>
            <a:pPr algn="l">
              <a:spcBef>
                <a:spcPts val="0"/>
              </a:spcBef>
              <a:spcAft>
                <a:spcPts val="0"/>
              </a:spcAft>
            </a:pPr>
            <a:r>
              <a:rPr sz="1500" b="0" i="0">
                <a:solidFill>
                  <a:srgbClr val="B8CFE6"/>
                </a:solidFill>
                <a:latin typeface="Calibri"/>
              </a:rPr>
              <a:t>1,470 employees   ·   237 leavers   ·   16.1% attrition   ·   $6.8M to replace them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45720" cy="438912"/>
          </a:xfrm>
          <a:prstGeom prst="roundRect">
            <a:avLst/>
          </a:prstGeom>
          <a:solidFill>
            <a:srgbClr val="00A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310896"/>
            <a:ext cx="10881360" cy="914400"/>
          </a:xfrm>
          <a:prstGeom prst="rect">
            <a:avLst/>
          </a:prstGeom>
          <a:noFill/>
        </p:spPr>
        <p:txBody>
          <a:bodyPr wrap="square" lIns="0" tIns="0" rIns="0" bIns="0" anchor="t">
            <a:spAutoFit/>
          </a:bodyPr>
          <a:lstStyle/>
          <a:p>
            <a:pPr algn="l">
              <a:spcBef>
                <a:spcPts val="0"/>
              </a:spcBef>
              <a:spcAft>
                <a:spcPts val="200"/>
              </a:spcAft>
            </a:pPr>
            <a:r>
              <a:rPr sz="2600" b="1" i="0">
                <a:solidFill>
                  <a:srgbClr val="002B55"/>
                </a:solidFill>
                <a:latin typeface="Calibri"/>
              </a:rPr>
              <a:t>The number is 16.1% — but that is not the story</a:t>
            </a:r>
          </a:p>
          <a:p>
            <a:pPr algn="l">
              <a:spcBef>
                <a:spcPts val="0"/>
              </a:spcBef>
              <a:spcAft>
                <a:spcPts val="0"/>
              </a:spcAft>
            </a:pPr>
            <a:r>
              <a:rPr sz="1300" b="0" i="0">
                <a:solidFill>
                  <a:srgbClr val="52514E"/>
                </a:solidFill>
                <a:latin typeface="Calibri"/>
              </a:rPr>
              <a:t>The average hides an eight-fold spread. This is concentrated, not company-wide.</a:t>
            </a:r>
          </a:p>
        </p:txBody>
      </p:sp>
      <p:sp>
        <p:nvSpPr>
          <p:cNvPr id="4" name="Rounded Rectangle 3"/>
          <p:cNvSpPr/>
          <p:nvPr/>
        </p:nvSpPr>
        <p:spPr>
          <a:xfrm>
            <a:off x="502920" y="1737360"/>
            <a:ext cx="2706624" cy="137160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975104"/>
            <a:ext cx="2706624" cy="1097280"/>
          </a:xfrm>
          <a:prstGeom prst="rect">
            <a:avLst/>
          </a:prstGeom>
          <a:noFill/>
        </p:spPr>
        <p:txBody>
          <a:bodyPr wrap="square" lIns="0" tIns="0" rIns="0" bIns="0" anchor="t">
            <a:spAutoFit/>
          </a:bodyPr>
          <a:lstStyle/>
          <a:p>
            <a:pPr algn="ctr">
              <a:spcBef>
                <a:spcPts val="0"/>
              </a:spcBef>
              <a:spcAft>
                <a:spcPts val="300"/>
              </a:spcAft>
            </a:pPr>
            <a:r>
              <a:rPr sz="3800" b="1" i="0">
                <a:solidFill>
                  <a:srgbClr val="003D77"/>
                </a:solidFill>
                <a:latin typeface="Calibri"/>
              </a:rPr>
              <a:t>1,470</a:t>
            </a:r>
          </a:p>
          <a:p>
            <a:pPr algn="ctr">
              <a:spcBef>
                <a:spcPts val="0"/>
              </a:spcBef>
              <a:spcAft>
                <a:spcPts val="0"/>
              </a:spcAft>
            </a:pPr>
            <a:r>
              <a:rPr sz="1200" b="0" i="0">
                <a:solidFill>
                  <a:srgbClr val="52514E"/>
                </a:solidFill>
                <a:latin typeface="Calibri"/>
              </a:rPr>
              <a:t>employees</a:t>
            </a:r>
          </a:p>
        </p:txBody>
      </p:sp>
      <p:sp>
        <p:nvSpPr>
          <p:cNvPr id="6" name="Rounded Rectangle 5"/>
          <p:cNvSpPr/>
          <p:nvPr/>
        </p:nvSpPr>
        <p:spPr>
          <a:xfrm>
            <a:off x="3346704" y="1737360"/>
            <a:ext cx="2706624" cy="137160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346704" y="1975104"/>
            <a:ext cx="2706624" cy="1097280"/>
          </a:xfrm>
          <a:prstGeom prst="rect">
            <a:avLst/>
          </a:prstGeom>
          <a:noFill/>
        </p:spPr>
        <p:txBody>
          <a:bodyPr wrap="square" lIns="0" tIns="0" rIns="0" bIns="0" anchor="t">
            <a:spAutoFit/>
          </a:bodyPr>
          <a:lstStyle/>
          <a:p>
            <a:pPr algn="ctr">
              <a:spcBef>
                <a:spcPts val="0"/>
              </a:spcBef>
              <a:spcAft>
                <a:spcPts val="300"/>
              </a:spcAft>
            </a:pPr>
            <a:r>
              <a:rPr sz="3800" b="1" i="0">
                <a:solidFill>
                  <a:srgbClr val="D03B3B"/>
                </a:solidFill>
                <a:latin typeface="Calibri"/>
              </a:rPr>
              <a:t>237</a:t>
            </a:r>
          </a:p>
          <a:p>
            <a:pPr algn="ctr">
              <a:spcBef>
                <a:spcPts val="0"/>
              </a:spcBef>
              <a:spcAft>
                <a:spcPts val="0"/>
              </a:spcAft>
            </a:pPr>
            <a:r>
              <a:rPr sz="1200" b="0" i="0">
                <a:solidFill>
                  <a:srgbClr val="52514E"/>
                </a:solidFill>
                <a:latin typeface="Calibri"/>
              </a:rPr>
              <a:t>left this year</a:t>
            </a:r>
          </a:p>
        </p:txBody>
      </p:sp>
      <p:sp>
        <p:nvSpPr>
          <p:cNvPr id="8" name="Rounded Rectangle 7"/>
          <p:cNvSpPr/>
          <p:nvPr/>
        </p:nvSpPr>
        <p:spPr>
          <a:xfrm>
            <a:off x="6190488" y="1737360"/>
            <a:ext cx="2706624" cy="137160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90488" y="1975104"/>
            <a:ext cx="2706624" cy="1097280"/>
          </a:xfrm>
          <a:prstGeom prst="rect">
            <a:avLst/>
          </a:prstGeom>
          <a:noFill/>
        </p:spPr>
        <p:txBody>
          <a:bodyPr wrap="square" lIns="0" tIns="0" rIns="0" bIns="0" anchor="t">
            <a:spAutoFit/>
          </a:bodyPr>
          <a:lstStyle/>
          <a:p>
            <a:pPr algn="ctr">
              <a:spcBef>
                <a:spcPts val="0"/>
              </a:spcBef>
              <a:spcAft>
                <a:spcPts val="300"/>
              </a:spcAft>
            </a:pPr>
            <a:r>
              <a:rPr sz="3800" b="1" i="0">
                <a:solidFill>
                  <a:srgbClr val="D03B3B"/>
                </a:solidFill>
                <a:latin typeface="Calibri"/>
              </a:rPr>
              <a:t>16.1%</a:t>
            </a:r>
          </a:p>
          <a:p>
            <a:pPr algn="ctr">
              <a:spcBef>
                <a:spcPts val="0"/>
              </a:spcBef>
              <a:spcAft>
                <a:spcPts val="0"/>
              </a:spcAft>
            </a:pPr>
            <a:r>
              <a:rPr sz="1200" b="0" i="0">
                <a:solidFill>
                  <a:srgbClr val="52514E"/>
                </a:solidFill>
                <a:latin typeface="Calibri"/>
              </a:rPr>
              <a:t>attrition rate</a:t>
            </a:r>
          </a:p>
        </p:txBody>
      </p:sp>
      <p:sp>
        <p:nvSpPr>
          <p:cNvPr id="10" name="Rounded Rectangle 9"/>
          <p:cNvSpPr/>
          <p:nvPr/>
        </p:nvSpPr>
        <p:spPr>
          <a:xfrm>
            <a:off x="9034272" y="1737360"/>
            <a:ext cx="2706624" cy="137160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34272" y="1975104"/>
            <a:ext cx="2706624" cy="1097280"/>
          </a:xfrm>
          <a:prstGeom prst="rect">
            <a:avLst/>
          </a:prstGeom>
          <a:noFill/>
        </p:spPr>
        <p:txBody>
          <a:bodyPr wrap="square" lIns="0" tIns="0" rIns="0" bIns="0" anchor="t">
            <a:spAutoFit/>
          </a:bodyPr>
          <a:lstStyle/>
          <a:p>
            <a:pPr algn="ctr">
              <a:spcBef>
                <a:spcPts val="0"/>
              </a:spcBef>
              <a:spcAft>
                <a:spcPts val="300"/>
              </a:spcAft>
            </a:pPr>
            <a:r>
              <a:rPr sz="3800" b="1" i="0">
                <a:solidFill>
                  <a:srgbClr val="003D77"/>
                </a:solidFill>
                <a:latin typeface="Calibri"/>
              </a:rPr>
              <a:t>$6.8M</a:t>
            </a:r>
          </a:p>
          <a:p>
            <a:pPr algn="ctr">
              <a:spcBef>
                <a:spcPts val="0"/>
              </a:spcBef>
              <a:spcAft>
                <a:spcPts val="0"/>
              </a:spcAft>
            </a:pPr>
            <a:r>
              <a:rPr sz="1200" b="0" i="0">
                <a:solidFill>
                  <a:srgbClr val="52514E"/>
                </a:solidFill>
                <a:latin typeface="Calibri"/>
              </a:rPr>
              <a:t>cost to replace them</a:t>
            </a:r>
          </a:p>
        </p:txBody>
      </p:sp>
      <p:sp>
        <p:nvSpPr>
          <p:cNvPr id="12" name="TextBox 11"/>
          <p:cNvSpPr txBox="1"/>
          <p:nvPr/>
        </p:nvSpPr>
        <p:spPr>
          <a:xfrm>
            <a:off x="502920" y="3429000"/>
            <a:ext cx="11155680" cy="2651760"/>
          </a:xfrm>
          <a:prstGeom prst="rect">
            <a:avLst/>
          </a:prstGeom>
          <a:noFill/>
        </p:spPr>
        <p:txBody>
          <a:bodyPr wrap="square" lIns="0" tIns="0" rIns="0" bIns="0" anchor="t">
            <a:spAutoFit/>
          </a:bodyPr>
          <a:lstStyle/>
          <a:p>
            <a:pPr algn="l">
              <a:spcBef>
                <a:spcPts val="0"/>
              </a:spcBef>
              <a:spcAft>
                <a:spcPts val="1300"/>
              </a:spcAft>
            </a:pPr>
            <a:r>
              <a:rPr sz="1700" b="1" i="0">
                <a:solidFill>
                  <a:srgbClr val="002B55"/>
                </a:solidFill>
                <a:latin typeface="Calibri"/>
              </a:rPr>
              <a:t>Three facts that change what we do next</a:t>
            </a:r>
          </a:p>
          <a:p>
            <a:pPr algn="l">
              <a:spcBef>
                <a:spcPts val="0"/>
              </a:spcBef>
              <a:spcAft>
                <a:spcPts val="1000"/>
              </a:spcAft>
            </a:pPr>
            <a:r>
              <a:rPr sz="1550" b="0" i="0">
                <a:solidFill>
                  <a:srgbClr val="12212F"/>
                </a:solidFill>
                <a:latin typeface="Calibri"/>
              </a:rPr>
              <a:t>▪   Overtime staff are 28% of the workforce and 54% of everyone who left.</a:t>
            </a:r>
          </a:p>
          <a:p>
            <a:pPr algn="l">
              <a:spcBef>
                <a:spcPts val="0"/>
              </a:spcBef>
              <a:spcAft>
                <a:spcPts val="1000"/>
              </a:spcAft>
            </a:pPr>
            <a:r>
              <a:rPr sz="1550" b="0" i="0">
                <a:solidFill>
                  <a:srgbClr val="12212F"/>
                </a:solidFill>
                <a:latin typeface="Calibri"/>
              </a:rPr>
              <a:t>▪   Three frontline roles produce 60% of all leavers — Lab Technician, Research Scientist, Sales Representative.</a:t>
            </a:r>
          </a:p>
          <a:p>
            <a:pPr algn="l">
              <a:spcBef>
                <a:spcPts val="0"/>
              </a:spcBef>
              <a:spcAft>
                <a:spcPts val="1000"/>
              </a:spcAft>
            </a:pPr>
            <a:r>
              <a:rPr sz="1550" b="0" i="0">
                <a:solidFill>
                  <a:srgbClr val="12212F"/>
                </a:solidFill>
                <a:latin typeface="Calibri"/>
              </a:rPr>
              <a:t>▪   One in three people who leave does so inside their first year.</a:t>
            </a:r>
          </a:p>
          <a:p>
            <a:pPr algn="l">
              <a:spcBef>
                <a:spcPts val="800"/>
              </a:spcBef>
              <a:spcAft>
                <a:spcPts val="0"/>
              </a:spcAft>
            </a:pPr>
            <a:r>
              <a:rPr sz="1350" b="0" i="1">
                <a:solidFill>
                  <a:srgbClr val="52514E"/>
                </a:solidFill>
                <a:latin typeface="Calibri"/>
              </a:rPr>
              <a:t>A spread-out problem needs a company-wide budget. A concentrated one needs a short, targeted list — which is the rest of this deck.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45720" cy="438912"/>
          </a:xfrm>
          <a:prstGeom prst="roundRect">
            <a:avLst/>
          </a:prstGeom>
          <a:solidFill>
            <a:srgbClr val="00A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310896"/>
            <a:ext cx="10881360" cy="914400"/>
          </a:xfrm>
          <a:prstGeom prst="rect">
            <a:avLst/>
          </a:prstGeom>
          <a:noFill/>
        </p:spPr>
        <p:txBody>
          <a:bodyPr wrap="square" lIns="0" tIns="0" rIns="0" bIns="0" anchor="t">
            <a:spAutoFit/>
          </a:bodyPr>
          <a:lstStyle/>
          <a:p>
            <a:pPr algn="l">
              <a:spcBef>
                <a:spcPts val="0"/>
              </a:spcBef>
              <a:spcAft>
                <a:spcPts val="200"/>
              </a:spcAft>
            </a:pPr>
            <a:r>
              <a:rPr sz="2600" b="1" i="0">
                <a:solidFill>
                  <a:srgbClr val="002B55"/>
                </a:solidFill>
                <a:latin typeface="Calibri"/>
              </a:rPr>
              <a:t>Where it happens</a:t>
            </a:r>
          </a:p>
          <a:p>
            <a:pPr algn="l">
              <a:spcBef>
                <a:spcPts val="0"/>
              </a:spcBef>
              <a:spcAft>
                <a:spcPts val="0"/>
              </a:spcAft>
            </a:pPr>
            <a:r>
              <a:rPr sz="1300" b="0" i="0">
                <a:solidFill>
                  <a:srgbClr val="52514E"/>
                </a:solidFill>
                <a:latin typeface="Calibri"/>
              </a:rPr>
              <a:t>Rate shows intensity. Count shows where the money goes. You need both.</a:t>
            </a:r>
          </a:p>
        </p:txBody>
      </p:sp>
      <p:pic>
        <p:nvPicPr>
          <p:cNvPr id="4" name="Picture 3" descr="chart_attrition_by_role.png"/>
          <p:cNvPicPr>
            <a:picLocks noChangeAspect="1"/>
          </p:cNvPicPr>
          <p:nvPr/>
        </p:nvPicPr>
        <p:blipFill>
          <a:blip r:embed="rId3"/>
          <a:stretch>
            <a:fillRect/>
          </a:stretch>
        </p:blipFill>
        <p:spPr>
          <a:xfrm>
            <a:off x="384048" y="1572768"/>
            <a:ext cx="5806440" cy="3105770"/>
          </a:xfrm>
          <a:prstGeom prst="rect">
            <a:avLst/>
          </a:prstGeom>
        </p:spPr>
      </p:pic>
      <p:pic>
        <p:nvPicPr>
          <p:cNvPr id="5" name="Picture 4" descr="chart_department_split.png"/>
          <p:cNvPicPr>
            <a:picLocks noChangeAspect="1"/>
          </p:cNvPicPr>
          <p:nvPr/>
        </p:nvPicPr>
        <p:blipFill>
          <a:blip r:embed="rId4"/>
          <a:stretch>
            <a:fillRect/>
          </a:stretch>
        </p:blipFill>
        <p:spPr>
          <a:xfrm>
            <a:off x="6446520" y="1783080"/>
            <a:ext cx="5349240" cy="2600325"/>
          </a:xfrm>
          <a:prstGeom prst="rect">
            <a:avLst/>
          </a:prstGeom>
        </p:spPr>
      </p:pic>
      <p:sp>
        <p:nvSpPr>
          <p:cNvPr id="6" name="TextBox 5"/>
          <p:cNvSpPr txBox="1"/>
          <p:nvPr/>
        </p:nvSpPr>
        <p:spPr>
          <a:xfrm>
            <a:off x="6537960" y="4526280"/>
            <a:ext cx="5212080" cy="868680"/>
          </a:xfrm>
          <a:prstGeom prst="rect">
            <a:avLst/>
          </a:prstGeom>
          <a:noFill/>
        </p:spPr>
        <p:txBody>
          <a:bodyPr wrap="square" lIns="0" tIns="0" rIns="0" bIns="0" anchor="t">
            <a:spAutoFit/>
          </a:bodyPr>
          <a:lstStyle/>
          <a:p>
            <a:pPr algn="l">
              <a:spcBef>
                <a:spcPts val="0"/>
              </a:spcBef>
              <a:spcAft>
                <a:spcPts val="0"/>
              </a:spcAft>
            </a:pPr>
            <a:r>
              <a:rPr sz="1250" b="0" i="0">
                <a:solidFill>
                  <a:srgbClr val="52514E"/>
                </a:solidFill>
                <a:latin typeface="Calibri"/>
              </a:rPr>
              <a:t>R&amp;D has the lowest rate of any department and still supplies 56% of the leavers — because it holds 961 of the 1,470 people.</a:t>
            </a:r>
          </a:p>
        </p:txBody>
      </p:sp>
      <p:sp>
        <p:nvSpPr>
          <p:cNvPr id="7" name="Rounded Rectangle 6"/>
          <p:cNvSpPr/>
          <p:nvPr/>
        </p:nvSpPr>
        <p:spPr>
          <a:xfrm>
            <a:off x="502920" y="5486400"/>
            <a:ext cx="11173968" cy="1097280"/>
          </a:xfrm>
          <a:prstGeom prst="roundRect">
            <a:avLst>
              <a:gd name="adj" fmla="val 6000"/>
            </a:avLst>
          </a:prstGeom>
          <a:solidFill>
            <a:srgbClr val="EC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30352" y="5513832"/>
            <a:ext cx="50292" cy="1042415"/>
          </a:xfrm>
          <a:prstGeom prst="roundRect">
            <a:avLst/>
          </a:prstGeom>
          <a:solidFill>
            <a:srgbClr val="00A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2104" y="5614416"/>
            <a:ext cx="8156448" cy="256032"/>
          </a:xfrm>
          <a:prstGeom prst="rect">
            <a:avLst/>
          </a:prstGeom>
          <a:noFill/>
        </p:spPr>
        <p:txBody>
          <a:bodyPr wrap="square" lIns="0" tIns="0" rIns="0" bIns="0" anchor="t">
            <a:spAutoFit/>
          </a:bodyPr>
          <a:lstStyle/>
          <a:p>
            <a:pPr algn="l">
              <a:spcBef>
                <a:spcPts val="0"/>
              </a:spcBef>
              <a:spcAft>
                <a:spcPts val="0"/>
              </a:spcAft>
            </a:pPr>
            <a:r>
              <a:rPr sz="950" b="1" i="0">
                <a:solidFill>
                  <a:srgbClr val="007438"/>
                </a:solidFill>
                <a:latin typeface="Calibri"/>
              </a:rPr>
              <a:t>RECOMMENDATION</a:t>
            </a:r>
          </a:p>
        </p:txBody>
      </p:sp>
      <p:sp>
        <p:nvSpPr>
          <p:cNvPr id="10" name="TextBox 9"/>
          <p:cNvSpPr txBox="1"/>
          <p:nvPr/>
        </p:nvSpPr>
        <p:spPr>
          <a:xfrm>
            <a:off x="832104" y="5852160"/>
            <a:ext cx="8156448" cy="658368"/>
          </a:xfrm>
          <a:prstGeom prst="rect">
            <a:avLst/>
          </a:prstGeom>
          <a:noFill/>
        </p:spPr>
        <p:txBody>
          <a:bodyPr wrap="square" lIns="0" tIns="0" rIns="0" bIns="0" anchor="t">
            <a:spAutoFit/>
          </a:bodyPr>
          <a:lstStyle/>
          <a:p>
            <a:pPr algn="l">
              <a:spcBef>
                <a:spcPts val="0"/>
              </a:spcBef>
              <a:spcAft>
                <a:spcPts val="300"/>
              </a:spcAft>
            </a:pPr>
            <a:r>
              <a:rPr sz="1450" b="1" i="0">
                <a:solidFill>
                  <a:srgbClr val="002B55"/>
                </a:solidFill>
                <a:latin typeface="Calibri"/>
              </a:rPr>
              <a:t>Set department targets on leaver count, not on rate alone</a:t>
            </a:r>
          </a:p>
          <a:p>
            <a:pPr algn="l">
              <a:spcBef>
                <a:spcPts val="0"/>
              </a:spcBef>
              <a:spcAft>
                <a:spcPts val="0"/>
              </a:spcAft>
            </a:pPr>
            <a:r>
              <a:rPr sz="1150" b="0" i="0">
                <a:solidFill>
                  <a:srgbClr val="52514E"/>
                </a:solidFill>
                <a:latin typeface="Calibri"/>
              </a:rPr>
              <a:t>A two-point improvement in R&amp;D saves more people than a four-point improvement in HR. Rate finds the hot spots; count finds the cost.</a:t>
            </a:r>
          </a:p>
        </p:txBody>
      </p:sp>
      <p:sp>
        <p:nvSpPr>
          <p:cNvPr id="11" name="Rounded Rectangle 10"/>
          <p:cNvSpPr/>
          <p:nvPr/>
        </p:nvSpPr>
        <p:spPr>
          <a:xfrm>
            <a:off x="9345168" y="5669280"/>
            <a:ext cx="2103120" cy="731519"/>
          </a:xfrm>
          <a:prstGeom prst="roundRect">
            <a:avLst>
              <a:gd name="adj" fmla="val 6000"/>
            </a:avLst>
          </a:prstGeom>
          <a:solidFill>
            <a:srgbClr val="D6EE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45168" y="5779008"/>
            <a:ext cx="2103120" cy="640080"/>
          </a:xfrm>
          <a:prstGeom prst="rect">
            <a:avLst/>
          </a:prstGeom>
          <a:noFill/>
        </p:spPr>
        <p:txBody>
          <a:bodyPr wrap="square" lIns="0" tIns="0" rIns="0" bIns="0" anchor="t">
            <a:spAutoFit/>
          </a:bodyPr>
          <a:lstStyle/>
          <a:p>
            <a:pPr algn="ctr">
              <a:spcBef>
                <a:spcPts val="0"/>
              </a:spcBef>
              <a:spcAft>
                <a:spcPts val="100"/>
              </a:spcAft>
            </a:pPr>
            <a:r>
              <a:rPr sz="1900" b="1" i="0">
                <a:solidFill>
                  <a:srgbClr val="007438"/>
                </a:solidFill>
                <a:latin typeface="Calibri"/>
              </a:rPr>
              <a:t>focus</a:t>
            </a:r>
          </a:p>
          <a:p>
            <a:pPr algn="ctr">
              <a:spcBef>
                <a:spcPts val="0"/>
              </a:spcBef>
              <a:spcAft>
                <a:spcPts val="0"/>
              </a:spcAft>
            </a:pPr>
            <a:r>
              <a:rPr sz="900" b="0" i="0">
                <a:solidFill>
                  <a:srgbClr val="52514E"/>
                </a:solidFill>
                <a:latin typeface="Calibri"/>
              </a:rPr>
              <a:t>expected saving / year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45720" cy="438912"/>
          </a:xfrm>
          <a:prstGeom prst="roundRect">
            <a:avLst/>
          </a:prstGeom>
          <a:solidFill>
            <a:srgbClr val="00A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310896"/>
            <a:ext cx="10881360" cy="914400"/>
          </a:xfrm>
          <a:prstGeom prst="rect">
            <a:avLst/>
          </a:prstGeom>
          <a:noFill/>
        </p:spPr>
        <p:txBody>
          <a:bodyPr wrap="square" lIns="0" tIns="0" rIns="0" bIns="0" anchor="t">
            <a:spAutoFit/>
          </a:bodyPr>
          <a:lstStyle/>
          <a:p>
            <a:pPr algn="l">
              <a:spcBef>
                <a:spcPts val="0"/>
              </a:spcBef>
              <a:spcAft>
                <a:spcPts val="200"/>
              </a:spcAft>
            </a:pPr>
            <a:r>
              <a:rPr sz="2600" b="1" i="0">
                <a:solidFill>
                  <a:srgbClr val="002B55"/>
                </a:solidFill>
                <a:latin typeface="Calibri"/>
              </a:rPr>
              <a:t>The strongest driver is overtime</a:t>
            </a:r>
          </a:p>
          <a:p>
            <a:pPr algn="l">
              <a:spcBef>
                <a:spcPts val="0"/>
              </a:spcBef>
              <a:spcAft>
                <a:spcPts val="0"/>
              </a:spcAft>
            </a:pPr>
            <a:r>
              <a:rPr sz="1300" b="0" i="0">
                <a:solidFill>
                  <a:srgbClr val="52514E"/>
                </a:solidFill>
                <a:latin typeface="Calibri"/>
              </a:rPr>
              <a:t>It beats job role, pay and age on every statistical test we ran.</a:t>
            </a:r>
          </a:p>
        </p:txBody>
      </p:sp>
      <p:pic>
        <p:nvPicPr>
          <p:cNvPr id="4" name="Picture 3" descr="chart_overtime.png"/>
          <p:cNvPicPr>
            <a:picLocks noChangeAspect="1"/>
          </p:cNvPicPr>
          <p:nvPr/>
        </p:nvPicPr>
        <p:blipFill>
          <a:blip r:embed="rId3"/>
          <a:stretch>
            <a:fillRect/>
          </a:stretch>
        </p:blipFill>
        <p:spPr>
          <a:xfrm>
            <a:off x="457200" y="1627632"/>
            <a:ext cx="4846320" cy="3769360"/>
          </a:xfrm>
          <a:prstGeom prst="rect">
            <a:avLst/>
          </a:prstGeom>
        </p:spPr>
      </p:pic>
      <p:sp>
        <p:nvSpPr>
          <p:cNvPr id="5" name="Rounded Rectangle 4"/>
          <p:cNvSpPr/>
          <p:nvPr/>
        </p:nvSpPr>
        <p:spPr>
          <a:xfrm>
            <a:off x="5715000" y="1737360"/>
            <a:ext cx="5961888" cy="1170432"/>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89320" y="1911095"/>
            <a:ext cx="5413248" cy="914400"/>
          </a:xfrm>
          <a:prstGeom prst="rect">
            <a:avLst/>
          </a:prstGeom>
          <a:noFill/>
        </p:spPr>
        <p:txBody>
          <a:bodyPr wrap="square" lIns="0" tIns="0" rIns="0" bIns="0" anchor="t">
            <a:spAutoFit/>
          </a:bodyPr>
          <a:lstStyle/>
          <a:p>
            <a:pPr algn="l">
              <a:spcBef>
                <a:spcPts val="0"/>
              </a:spcBef>
              <a:spcAft>
                <a:spcPts val="200"/>
              </a:spcAft>
            </a:pPr>
            <a:r>
              <a:rPr sz="2200" b="1" i="0">
                <a:solidFill>
                  <a:srgbClr val="D03B3B"/>
                </a:solidFill>
                <a:latin typeface="Calibri"/>
              </a:rPr>
              <a:t>2.9×</a:t>
            </a:r>
          </a:p>
          <a:p>
            <a:pPr algn="l">
              <a:spcBef>
                <a:spcPts val="0"/>
              </a:spcBef>
              <a:spcAft>
                <a:spcPts val="0"/>
              </a:spcAft>
            </a:pPr>
            <a:r>
              <a:rPr sz="1250" b="0" i="0">
                <a:solidFill>
                  <a:srgbClr val="52514E"/>
                </a:solidFill>
                <a:latin typeface="Calibri"/>
              </a:rPr>
              <a:t>more likely to leave if you work overtime</a:t>
            </a:r>
          </a:p>
        </p:txBody>
      </p:sp>
      <p:sp>
        <p:nvSpPr>
          <p:cNvPr id="7" name="Rounded Rectangle 6"/>
          <p:cNvSpPr/>
          <p:nvPr/>
        </p:nvSpPr>
        <p:spPr>
          <a:xfrm>
            <a:off x="5715000" y="2999232"/>
            <a:ext cx="5961888" cy="1170432"/>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89320" y="3172968"/>
            <a:ext cx="5413248" cy="914400"/>
          </a:xfrm>
          <a:prstGeom prst="rect">
            <a:avLst/>
          </a:prstGeom>
          <a:noFill/>
        </p:spPr>
        <p:txBody>
          <a:bodyPr wrap="square" lIns="0" tIns="0" rIns="0" bIns="0" anchor="t">
            <a:spAutoFit/>
          </a:bodyPr>
          <a:lstStyle/>
          <a:p>
            <a:pPr algn="l">
              <a:spcBef>
                <a:spcPts val="0"/>
              </a:spcBef>
              <a:spcAft>
                <a:spcPts val="200"/>
              </a:spcAft>
            </a:pPr>
            <a:r>
              <a:rPr sz="2200" b="1" i="0">
                <a:solidFill>
                  <a:srgbClr val="D03B3B"/>
                </a:solidFill>
                <a:latin typeface="Calibri"/>
              </a:rPr>
              <a:t>54%</a:t>
            </a:r>
          </a:p>
          <a:p>
            <a:pPr algn="l">
              <a:spcBef>
                <a:spcPts val="0"/>
              </a:spcBef>
              <a:spcAft>
                <a:spcPts val="0"/>
              </a:spcAft>
            </a:pPr>
            <a:r>
              <a:rPr sz="1250" b="0" i="0">
                <a:solidFill>
                  <a:srgbClr val="52514E"/>
                </a:solidFill>
                <a:latin typeface="Calibri"/>
              </a:rPr>
              <a:t>of all leavers come from just 28% of staff</a:t>
            </a:r>
          </a:p>
        </p:txBody>
      </p:sp>
      <p:sp>
        <p:nvSpPr>
          <p:cNvPr id="9" name="Rounded Rectangle 8"/>
          <p:cNvSpPr/>
          <p:nvPr/>
        </p:nvSpPr>
        <p:spPr>
          <a:xfrm>
            <a:off x="5715000" y="4261104"/>
            <a:ext cx="5961888" cy="1170432"/>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89320" y="4434840"/>
            <a:ext cx="5413248" cy="914400"/>
          </a:xfrm>
          <a:prstGeom prst="rect">
            <a:avLst/>
          </a:prstGeom>
          <a:noFill/>
        </p:spPr>
        <p:txBody>
          <a:bodyPr wrap="square" lIns="0" tIns="0" rIns="0" bIns="0" anchor="t">
            <a:spAutoFit/>
          </a:bodyPr>
          <a:lstStyle/>
          <a:p>
            <a:pPr algn="l">
              <a:spcBef>
                <a:spcPts val="0"/>
              </a:spcBef>
              <a:spcAft>
                <a:spcPts val="200"/>
              </a:spcAft>
            </a:pPr>
            <a:r>
              <a:rPr sz="2200" b="1" i="0">
                <a:solidFill>
                  <a:srgbClr val="002B55"/>
                </a:solidFill>
                <a:latin typeface="Calibri"/>
              </a:rPr>
              <a:t>87.6</a:t>
            </a:r>
          </a:p>
          <a:p>
            <a:pPr algn="l">
              <a:spcBef>
                <a:spcPts val="0"/>
              </a:spcBef>
              <a:spcAft>
                <a:spcPts val="0"/>
              </a:spcAft>
            </a:pPr>
            <a:r>
              <a:rPr sz="1250" b="0" i="0">
                <a:solidFill>
                  <a:srgbClr val="52514E"/>
                </a:solidFill>
                <a:latin typeface="Calibri"/>
              </a:rPr>
              <a:t>chi-square — the highest of every factor tested</a:t>
            </a:r>
          </a:p>
        </p:txBody>
      </p:sp>
      <p:sp>
        <p:nvSpPr>
          <p:cNvPr id="11" name="Rounded Rectangle 10"/>
          <p:cNvSpPr/>
          <p:nvPr/>
        </p:nvSpPr>
        <p:spPr>
          <a:xfrm>
            <a:off x="502920" y="5486400"/>
            <a:ext cx="11173968" cy="1097280"/>
          </a:xfrm>
          <a:prstGeom prst="roundRect">
            <a:avLst>
              <a:gd name="adj" fmla="val 6000"/>
            </a:avLst>
          </a:prstGeom>
          <a:solidFill>
            <a:srgbClr val="EC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30352" y="5513832"/>
            <a:ext cx="50292" cy="1042415"/>
          </a:xfrm>
          <a:prstGeom prst="roundRect">
            <a:avLst/>
          </a:prstGeom>
          <a:solidFill>
            <a:srgbClr val="00A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104" y="5614416"/>
            <a:ext cx="8156448" cy="256032"/>
          </a:xfrm>
          <a:prstGeom prst="rect">
            <a:avLst/>
          </a:prstGeom>
          <a:noFill/>
        </p:spPr>
        <p:txBody>
          <a:bodyPr wrap="square" lIns="0" tIns="0" rIns="0" bIns="0" anchor="t">
            <a:spAutoFit/>
          </a:bodyPr>
          <a:lstStyle/>
          <a:p>
            <a:pPr algn="l">
              <a:spcBef>
                <a:spcPts val="0"/>
              </a:spcBef>
              <a:spcAft>
                <a:spcPts val="0"/>
              </a:spcAft>
            </a:pPr>
            <a:r>
              <a:rPr sz="950" b="1" i="0">
                <a:solidFill>
                  <a:srgbClr val="007438"/>
                </a:solidFill>
                <a:latin typeface="Calibri"/>
              </a:rPr>
              <a:t>RECOMMENDATION</a:t>
            </a:r>
          </a:p>
        </p:txBody>
      </p:sp>
      <p:sp>
        <p:nvSpPr>
          <p:cNvPr id="14" name="TextBox 13"/>
          <p:cNvSpPr txBox="1"/>
          <p:nvPr/>
        </p:nvSpPr>
        <p:spPr>
          <a:xfrm>
            <a:off x="832104" y="5852160"/>
            <a:ext cx="8156448" cy="658368"/>
          </a:xfrm>
          <a:prstGeom prst="rect">
            <a:avLst/>
          </a:prstGeom>
          <a:noFill/>
        </p:spPr>
        <p:txBody>
          <a:bodyPr wrap="square" lIns="0" tIns="0" rIns="0" bIns="0" anchor="t">
            <a:spAutoFit/>
          </a:bodyPr>
          <a:lstStyle/>
          <a:p>
            <a:pPr algn="l">
              <a:spcBef>
                <a:spcPts val="0"/>
              </a:spcBef>
              <a:spcAft>
                <a:spcPts val="300"/>
              </a:spcAft>
            </a:pPr>
            <a:r>
              <a:rPr sz="1450" b="1" i="0">
                <a:solidFill>
                  <a:srgbClr val="002B55"/>
                </a:solidFill>
                <a:latin typeface="Calibri"/>
              </a:rPr>
              <a:t>Overtime governance — mandatory approval, workload rebalancing, comp-off</a:t>
            </a:r>
          </a:p>
          <a:p>
            <a:pPr algn="l">
              <a:spcBef>
                <a:spcPts val="0"/>
              </a:spcBef>
              <a:spcAft>
                <a:spcPts val="0"/>
              </a:spcAft>
            </a:pPr>
            <a:r>
              <a:rPr sz="1150" b="0" i="0">
                <a:solidFill>
                  <a:srgbClr val="52514E"/>
                </a:solidFill>
                <a:latin typeface="Calibri"/>
              </a:rPr>
              <a:t>If overtime staff left at the same rate as everyone else we would lose 43 instead of 127. This costs policy, not budget.</a:t>
            </a:r>
          </a:p>
        </p:txBody>
      </p:sp>
      <p:sp>
        <p:nvSpPr>
          <p:cNvPr id="15" name="Rounded Rectangle 14"/>
          <p:cNvSpPr/>
          <p:nvPr/>
        </p:nvSpPr>
        <p:spPr>
          <a:xfrm>
            <a:off x="9345168" y="5669280"/>
            <a:ext cx="2103120" cy="731519"/>
          </a:xfrm>
          <a:prstGeom prst="roundRect">
            <a:avLst>
              <a:gd name="adj" fmla="val 6000"/>
            </a:avLst>
          </a:prstGeom>
          <a:solidFill>
            <a:srgbClr val="D6EE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45168" y="5779008"/>
            <a:ext cx="2103120" cy="640080"/>
          </a:xfrm>
          <a:prstGeom prst="rect">
            <a:avLst/>
          </a:prstGeom>
          <a:noFill/>
        </p:spPr>
        <p:txBody>
          <a:bodyPr wrap="square" lIns="0" tIns="0" rIns="0" bIns="0" anchor="t">
            <a:spAutoFit/>
          </a:bodyPr>
          <a:lstStyle/>
          <a:p>
            <a:pPr algn="ctr">
              <a:spcBef>
                <a:spcPts val="0"/>
              </a:spcBef>
              <a:spcAft>
                <a:spcPts val="100"/>
              </a:spcAft>
            </a:pPr>
            <a:r>
              <a:rPr sz="1900" b="1" i="0">
                <a:solidFill>
                  <a:srgbClr val="007438"/>
                </a:solidFill>
                <a:latin typeface="Calibri"/>
              </a:rPr>
              <a:t>~84 exits</a:t>
            </a:r>
          </a:p>
          <a:p>
            <a:pPr algn="ctr">
              <a:spcBef>
                <a:spcPts val="0"/>
              </a:spcBef>
              <a:spcAft>
                <a:spcPts val="0"/>
              </a:spcAft>
            </a:pPr>
            <a:r>
              <a:rPr sz="900" b="0" i="0">
                <a:solidFill>
                  <a:srgbClr val="52514E"/>
                </a:solidFill>
                <a:latin typeface="Calibri"/>
              </a:rPr>
              <a:t>expected saving / year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45720" cy="438912"/>
          </a:xfrm>
          <a:prstGeom prst="roundRect">
            <a:avLst/>
          </a:prstGeom>
          <a:solidFill>
            <a:srgbClr val="00A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310896"/>
            <a:ext cx="10881360" cy="914400"/>
          </a:xfrm>
          <a:prstGeom prst="rect">
            <a:avLst/>
          </a:prstGeom>
          <a:noFill/>
        </p:spPr>
        <p:txBody>
          <a:bodyPr wrap="square" lIns="0" tIns="0" rIns="0" bIns="0" anchor="t">
            <a:spAutoFit/>
          </a:bodyPr>
          <a:lstStyle/>
          <a:p>
            <a:pPr algn="l">
              <a:spcBef>
                <a:spcPts val="0"/>
              </a:spcBef>
              <a:spcAft>
                <a:spcPts val="200"/>
              </a:spcAft>
            </a:pPr>
            <a:r>
              <a:rPr sz="2600" b="1" i="0">
                <a:solidFill>
                  <a:srgbClr val="002B55"/>
                </a:solidFill>
                <a:latin typeface="Calibri"/>
              </a:rPr>
              <a:t>Risk multiplies — it does not add up</a:t>
            </a:r>
          </a:p>
          <a:p>
            <a:pPr algn="l">
              <a:spcBef>
                <a:spcPts val="0"/>
              </a:spcBef>
              <a:spcAft>
                <a:spcPts val="0"/>
              </a:spcAft>
            </a:pPr>
            <a:r>
              <a:rPr sz="1300" b="0" i="0">
                <a:solidFill>
                  <a:srgbClr val="52514E"/>
                </a:solidFill>
                <a:latin typeface="Calibri"/>
              </a:rPr>
              <a:t>Overtime on top of any other weakness turns attrition into a coin flip.</a:t>
            </a:r>
          </a:p>
        </p:txBody>
      </p:sp>
      <p:pic>
        <p:nvPicPr>
          <p:cNvPr id="4" name="Picture 3" descr="chart_segments.png"/>
          <p:cNvPicPr>
            <a:picLocks noChangeAspect="1"/>
          </p:cNvPicPr>
          <p:nvPr/>
        </p:nvPicPr>
        <p:blipFill>
          <a:blip r:embed="rId3"/>
          <a:stretch>
            <a:fillRect/>
          </a:stretch>
        </p:blipFill>
        <p:spPr>
          <a:xfrm>
            <a:off x="457200" y="1572768"/>
            <a:ext cx="7772400" cy="3615070"/>
          </a:xfrm>
          <a:prstGeom prst="rect">
            <a:avLst/>
          </a:prstGeom>
        </p:spPr>
      </p:pic>
      <p:sp>
        <p:nvSpPr>
          <p:cNvPr id="5" name="Rounded Rectangle 4"/>
          <p:cNvSpPr/>
          <p:nvPr/>
        </p:nvSpPr>
        <p:spPr>
          <a:xfrm>
            <a:off x="8458200" y="1691640"/>
            <a:ext cx="3200400" cy="3566160"/>
          </a:xfrm>
          <a:prstGeom prst="roundRect">
            <a:avLst>
              <a:gd name="adj" fmla="val 6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32520" y="1938528"/>
            <a:ext cx="2697480" cy="3108960"/>
          </a:xfrm>
          <a:prstGeom prst="rect">
            <a:avLst/>
          </a:prstGeom>
          <a:noFill/>
        </p:spPr>
        <p:txBody>
          <a:bodyPr wrap="square" lIns="0" tIns="0" rIns="0" bIns="0" anchor="t">
            <a:spAutoFit/>
          </a:bodyPr>
          <a:lstStyle/>
          <a:p>
            <a:pPr algn="l">
              <a:spcBef>
                <a:spcPts val="0"/>
              </a:spcBef>
              <a:spcAft>
                <a:spcPts val="500"/>
              </a:spcAft>
            </a:pPr>
            <a:r>
              <a:rPr sz="3200" b="1" i="0">
                <a:solidFill>
                  <a:srgbClr val="D03B3B"/>
                </a:solidFill>
                <a:latin typeface="Calibri"/>
              </a:rPr>
              <a:t>68.6%</a:t>
            </a:r>
          </a:p>
          <a:p>
            <a:pPr algn="l">
              <a:spcBef>
                <a:spcPts val="0"/>
              </a:spcBef>
              <a:spcAft>
                <a:spcPts val="700"/>
              </a:spcAft>
            </a:pPr>
            <a:r>
              <a:rPr sz="1300" b="0" i="0">
                <a:solidFill>
                  <a:srgbClr val="12212F"/>
                </a:solidFill>
                <a:latin typeface="Calibri"/>
              </a:rPr>
              <a:t>of overtime workers earning under $2,500 left.</a:t>
            </a:r>
          </a:p>
          <a:p>
            <a:pPr algn="l">
              <a:spcBef>
                <a:spcPts val="0"/>
              </a:spcBef>
              <a:spcAft>
                <a:spcPts val="900"/>
              </a:spcAft>
            </a:pPr>
            <a:r>
              <a:rPr sz="1300" b="1" i="0">
                <a:solidFill>
                  <a:srgbClr val="D03B3B"/>
                </a:solidFill>
                <a:latin typeface="Calibri"/>
              </a:rPr>
              <a:t>They are more likely to leave than to stay.</a:t>
            </a:r>
          </a:p>
          <a:p>
            <a:pPr algn="l">
              <a:spcBef>
                <a:spcPts val="0"/>
              </a:spcBef>
              <a:spcAft>
                <a:spcPts val="0"/>
              </a:spcAft>
            </a:pPr>
            <a:r>
              <a:rPr sz="1250" b="0" i="0">
                <a:solidFill>
                  <a:srgbClr val="52514E"/>
                </a:solidFill>
                <a:latin typeface="Calibri"/>
              </a:rPr>
              <a:t>Overtime + entry level is 156 people — 10% of staff, a third of all attrition.</a:t>
            </a:r>
          </a:p>
        </p:txBody>
      </p:sp>
      <p:sp>
        <p:nvSpPr>
          <p:cNvPr id="7" name="Rounded Rectangle 6"/>
          <p:cNvSpPr/>
          <p:nvPr/>
        </p:nvSpPr>
        <p:spPr>
          <a:xfrm>
            <a:off x="502920" y="5486400"/>
            <a:ext cx="11173968" cy="1097280"/>
          </a:xfrm>
          <a:prstGeom prst="roundRect">
            <a:avLst>
              <a:gd name="adj" fmla="val 6000"/>
            </a:avLst>
          </a:prstGeom>
          <a:solidFill>
            <a:srgbClr val="EC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30352" y="5513832"/>
            <a:ext cx="50292" cy="1042415"/>
          </a:xfrm>
          <a:prstGeom prst="roundRect">
            <a:avLst/>
          </a:prstGeom>
          <a:solidFill>
            <a:srgbClr val="00A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2104" y="5614416"/>
            <a:ext cx="8156448" cy="256032"/>
          </a:xfrm>
          <a:prstGeom prst="rect">
            <a:avLst/>
          </a:prstGeom>
          <a:noFill/>
        </p:spPr>
        <p:txBody>
          <a:bodyPr wrap="square" lIns="0" tIns="0" rIns="0" bIns="0" anchor="t">
            <a:spAutoFit/>
          </a:bodyPr>
          <a:lstStyle/>
          <a:p>
            <a:pPr algn="l">
              <a:spcBef>
                <a:spcPts val="0"/>
              </a:spcBef>
              <a:spcAft>
                <a:spcPts val="0"/>
              </a:spcAft>
            </a:pPr>
            <a:r>
              <a:rPr sz="950" b="1" i="0">
                <a:solidFill>
                  <a:srgbClr val="007438"/>
                </a:solidFill>
                <a:latin typeface="Calibri"/>
              </a:rPr>
              <a:t>RECOMMENDATION</a:t>
            </a:r>
          </a:p>
        </p:txBody>
      </p:sp>
      <p:sp>
        <p:nvSpPr>
          <p:cNvPr id="10" name="TextBox 9"/>
          <p:cNvSpPr txBox="1"/>
          <p:nvPr/>
        </p:nvSpPr>
        <p:spPr>
          <a:xfrm>
            <a:off x="832104" y="5852160"/>
            <a:ext cx="8156448" cy="658368"/>
          </a:xfrm>
          <a:prstGeom prst="rect">
            <a:avLst/>
          </a:prstGeom>
          <a:noFill/>
        </p:spPr>
        <p:txBody>
          <a:bodyPr wrap="square" lIns="0" tIns="0" rIns="0" bIns="0" anchor="t">
            <a:spAutoFit/>
          </a:bodyPr>
          <a:lstStyle/>
          <a:p>
            <a:pPr algn="l">
              <a:spcBef>
                <a:spcPts val="0"/>
              </a:spcBef>
              <a:spcAft>
                <a:spcPts val="300"/>
              </a:spcAft>
            </a:pPr>
            <a:r>
              <a:rPr sz="1450" b="1" i="0">
                <a:solidFill>
                  <a:srgbClr val="002B55"/>
                </a:solidFill>
                <a:latin typeface="Calibri"/>
              </a:rPr>
              <a:t>Build a named 156-person watch list — overtime + job level 1, reviewed monthly</a:t>
            </a:r>
          </a:p>
          <a:p>
            <a:pPr algn="l">
              <a:spcBef>
                <a:spcPts val="0"/>
              </a:spcBef>
              <a:spcAft>
                <a:spcPts val="0"/>
              </a:spcAft>
            </a:pPr>
            <a:r>
              <a:rPr sz="1150" b="0" i="0">
                <a:solidFill>
                  <a:srgbClr val="52514E"/>
                </a:solidFill>
                <a:latin typeface="Calibri"/>
              </a:rPr>
              <a:t>The dashboard already produces this list. Halving that segment is worth 41 people a year; bringing it to the no-overtime rate is worth 66.</a:t>
            </a:r>
          </a:p>
        </p:txBody>
      </p:sp>
      <p:sp>
        <p:nvSpPr>
          <p:cNvPr id="11" name="Rounded Rectangle 10"/>
          <p:cNvSpPr/>
          <p:nvPr/>
        </p:nvSpPr>
        <p:spPr>
          <a:xfrm>
            <a:off x="9345168" y="5669280"/>
            <a:ext cx="2103120" cy="731519"/>
          </a:xfrm>
          <a:prstGeom prst="roundRect">
            <a:avLst>
              <a:gd name="adj" fmla="val 6000"/>
            </a:avLst>
          </a:prstGeom>
          <a:solidFill>
            <a:srgbClr val="D6EE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45168" y="5779008"/>
            <a:ext cx="2103120" cy="640080"/>
          </a:xfrm>
          <a:prstGeom prst="rect">
            <a:avLst/>
          </a:prstGeom>
          <a:noFill/>
        </p:spPr>
        <p:txBody>
          <a:bodyPr wrap="square" lIns="0" tIns="0" rIns="0" bIns="0" anchor="t">
            <a:spAutoFit/>
          </a:bodyPr>
          <a:lstStyle/>
          <a:p>
            <a:pPr algn="ctr">
              <a:spcBef>
                <a:spcPts val="0"/>
              </a:spcBef>
              <a:spcAft>
                <a:spcPts val="100"/>
              </a:spcAft>
            </a:pPr>
            <a:r>
              <a:rPr sz="1900" b="1" i="0">
                <a:solidFill>
                  <a:srgbClr val="007438"/>
                </a:solidFill>
                <a:latin typeface="Calibri"/>
              </a:rPr>
              <a:t>~41 exits</a:t>
            </a:r>
          </a:p>
          <a:p>
            <a:pPr algn="ctr">
              <a:spcBef>
                <a:spcPts val="0"/>
              </a:spcBef>
              <a:spcAft>
                <a:spcPts val="0"/>
              </a:spcAft>
            </a:pPr>
            <a:r>
              <a:rPr sz="900" b="0" i="0">
                <a:solidFill>
                  <a:srgbClr val="52514E"/>
                </a:solidFill>
                <a:latin typeface="Calibri"/>
              </a:rPr>
              <a:t>expected saving / year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45720" cy="438912"/>
          </a:xfrm>
          <a:prstGeom prst="roundRect">
            <a:avLst/>
          </a:prstGeom>
          <a:solidFill>
            <a:srgbClr val="00A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310896"/>
            <a:ext cx="10881360" cy="914400"/>
          </a:xfrm>
          <a:prstGeom prst="rect">
            <a:avLst/>
          </a:prstGeom>
          <a:noFill/>
        </p:spPr>
        <p:txBody>
          <a:bodyPr wrap="square" lIns="0" tIns="0" rIns="0" bIns="0" anchor="t">
            <a:spAutoFit/>
          </a:bodyPr>
          <a:lstStyle/>
          <a:p>
            <a:pPr algn="l">
              <a:spcBef>
                <a:spcPts val="0"/>
              </a:spcBef>
              <a:spcAft>
                <a:spcPts val="200"/>
              </a:spcAft>
            </a:pPr>
            <a:r>
              <a:rPr sz="2600" b="1" i="0">
                <a:solidFill>
                  <a:srgbClr val="002B55"/>
                </a:solidFill>
                <a:latin typeface="Calibri"/>
              </a:rPr>
              <a:t>Pay and equity are doing the work</a:t>
            </a:r>
          </a:p>
          <a:p>
            <a:pPr algn="l">
              <a:spcBef>
                <a:spcPts val="0"/>
              </a:spcBef>
              <a:spcAft>
                <a:spcPts val="0"/>
              </a:spcAft>
            </a:pPr>
            <a:r>
              <a:rPr sz="1300" b="0" i="0">
                <a:solidFill>
                  <a:srgbClr val="52514E"/>
                </a:solidFill>
                <a:latin typeface="Calibri"/>
              </a:rPr>
              <a:t>Both show a clean gradient — which is what separates a cause from a coincidence.</a:t>
            </a:r>
          </a:p>
        </p:txBody>
      </p:sp>
      <p:pic>
        <p:nvPicPr>
          <p:cNvPr id="4" name="Picture 3" descr="chart_income.png"/>
          <p:cNvPicPr>
            <a:picLocks noChangeAspect="1"/>
          </p:cNvPicPr>
          <p:nvPr/>
        </p:nvPicPr>
        <p:blipFill>
          <a:blip r:embed="rId3"/>
          <a:stretch>
            <a:fillRect/>
          </a:stretch>
        </p:blipFill>
        <p:spPr>
          <a:xfrm>
            <a:off x="457200" y="1627632"/>
            <a:ext cx="5486400" cy="3600450"/>
          </a:xfrm>
          <a:prstGeom prst="rect">
            <a:avLst/>
          </a:prstGeom>
        </p:spPr>
      </p:pic>
      <p:sp>
        <p:nvSpPr>
          <p:cNvPr id="5" name="Rounded Rectangle 4"/>
          <p:cNvSpPr/>
          <p:nvPr/>
        </p:nvSpPr>
        <p:spPr>
          <a:xfrm>
            <a:off x="6217920" y="1737360"/>
            <a:ext cx="5458968" cy="1170432"/>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92240" y="1911095"/>
            <a:ext cx="4910328" cy="914400"/>
          </a:xfrm>
          <a:prstGeom prst="rect">
            <a:avLst/>
          </a:prstGeom>
          <a:noFill/>
        </p:spPr>
        <p:txBody>
          <a:bodyPr wrap="square" lIns="0" tIns="0" rIns="0" bIns="0" anchor="t">
            <a:spAutoFit/>
          </a:bodyPr>
          <a:lstStyle/>
          <a:p>
            <a:pPr algn="l">
              <a:spcBef>
                <a:spcPts val="0"/>
              </a:spcBef>
              <a:spcAft>
                <a:spcPts val="200"/>
              </a:spcAft>
            </a:pPr>
            <a:r>
              <a:rPr sz="1900" b="1" i="0">
                <a:solidFill>
                  <a:srgbClr val="D03B3B"/>
                </a:solidFill>
                <a:latin typeface="Calibri"/>
              </a:rPr>
              <a:t>$4,787  vs  $6,833</a:t>
            </a:r>
          </a:p>
          <a:p>
            <a:pPr algn="l">
              <a:spcBef>
                <a:spcPts val="0"/>
              </a:spcBef>
              <a:spcAft>
                <a:spcPts val="0"/>
              </a:spcAft>
            </a:pPr>
            <a:r>
              <a:rPr sz="1250" b="0" i="0">
                <a:solidFill>
                  <a:srgbClr val="52514E"/>
                </a:solidFill>
                <a:latin typeface="Calibri"/>
              </a:rPr>
              <a:t>Leavers earned 30% less than those who stayed</a:t>
            </a:r>
          </a:p>
        </p:txBody>
      </p:sp>
      <p:sp>
        <p:nvSpPr>
          <p:cNvPr id="7" name="Rounded Rectangle 6"/>
          <p:cNvSpPr/>
          <p:nvPr/>
        </p:nvSpPr>
        <p:spPr>
          <a:xfrm>
            <a:off x="6217920" y="2999232"/>
            <a:ext cx="5458968" cy="1170432"/>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3172968"/>
            <a:ext cx="4910328" cy="914400"/>
          </a:xfrm>
          <a:prstGeom prst="rect">
            <a:avLst/>
          </a:prstGeom>
          <a:noFill/>
        </p:spPr>
        <p:txBody>
          <a:bodyPr wrap="square" lIns="0" tIns="0" rIns="0" bIns="0" anchor="t">
            <a:spAutoFit/>
          </a:bodyPr>
          <a:lstStyle/>
          <a:p>
            <a:pPr algn="l">
              <a:spcBef>
                <a:spcPts val="0"/>
              </a:spcBef>
              <a:spcAft>
                <a:spcPts val="200"/>
              </a:spcAft>
            </a:pPr>
            <a:r>
              <a:rPr sz="1900" b="1" i="0">
                <a:solidFill>
                  <a:srgbClr val="D03B3B"/>
                </a:solidFill>
                <a:latin typeface="Calibri"/>
              </a:rPr>
              <a:t>24.4%  vs  9.4%</a:t>
            </a:r>
          </a:p>
          <a:p>
            <a:pPr algn="l">
              <a:spcBef>
                <a:spcPts val="0"/>
              </a:spcBef>
              <a:spcAft>
                <a:spcPts val="0"/>
              </a:spcAft>
            </a:pPr>
            <a:r>
              <a:rPr sz="1250" b="0" i="0">
                <a:solidFill>
                  <a:srgbClr val="52514E"/>
                </a:solidFill>
                <a:latin typeface="Calibri"/>
              </a:rPr>
              <a:t>Zero stock options versus one level of equity</a:t>
            </a:r>
          </a:p>
        </p:txBody>
      </p:sp>
      <p:sp>
        <p:nvSpPr>
          <p:cNvPr id="9" name="Rounded Rectangle 8"/>
          <p:cNvSpPr/>
          <p:nvPr/>
        </p:nvSpPr>
        <p:spPr>
          <a:xfrm>
            <a:off x="6217920" y="4261104"/>
            <a:ext cx="5458968" cy="1170432"/>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4434840"/>
            <a:ext cx="4910328" cy="914400"/>
          </a:xfrm>
          <a:prstGeom prst="rect">
            <a:avLst/>
          </a:prstGeom>
          <a:noFill/>
        </p:spPr>
        <p:txBody>
          <a:bodyPr wrap="square" lIns="0" tIns="0" rIns="0" bIns="0" anchor="t">
            <a:spAutoFit/>
          </a:bodyPr>
          <a:lstStyle/>
          <a:p>
            <a:pPr algn="l">
              <a:spcBef>
                <a:spcPts val="0"/>
              </a:spcBef>
              <a:spcAft>
                <a:spcPts val="200"/>
              </a:spcAft>
            </a:pPr>
            <a:r>
              <a:rPr sz="1900" b="1" i="0">
                <a:solidFill>
                  <a:srgbClr val="007438"/>
                </a:solidFill>
                <a:latin typeface="Calibri"/>
              </a:rPr>
              <a:t>4.4%</a:t>
            </a:r>
          </a:p>
          <a:p>
            <a:pPr algn="l">
              <a:spcBef>
                <a:spcPts val="0"/>
              </a:spcBef>
              <a:spcAft>
                <a:spcPts val="0"/>
              </a:spcAft>
            </a:pPr>
            <a:r>
              <a:rPr sz="1250" b="0" i="0">
                <a:solidFill>
                  <a:srgbClr val="52514E"/>
                </a:solidFill>
                <a:latin typeface="Calibri"/>
              </a:rPr>
              <a:t>Attrition among the 114 top earners — money retains</a:t>
            </a:r>
          </a:p>
        </p:txBody>
      </p:sp>
      <p:sp>
        <p:nvSpPr>
          <p:cNvPr id="11" name="Rounded Rectangle 10"/>
          <p:cNvSpPr/>
          <p:nvPr/>
        </p:nvSpPr>
        <p:spPr>
          <a:xfrm>
            <a:off x="502920" y="5486400"/>
            <a:ext cx="11173968" cy="1097280"/>
          </a:xfrm>
          <a:prstGeom prst="roundRect">
            <a:avLst>
              <a:gd name="adj" fmla="val 6000"/>
            </a:avLst>
          </a:prstGeom>
          <a:solidFill>
            <a:srgbClr val="EC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30352" y="5513832"/>
            <a:ext cx="50292" cy="1042415"/>
          </a:xfrm>
          <a:prstGeom prst="roundRect">
            <a:avLst/>
          </a:prstGeom>
          <a:solidFill>
            <a:srgbClr val="00A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2104" y="5614416"/>
            <a:ext cx="8156448" cy="256032"/>
          </a:xfrm>
          <a:prstGeom prst="rect">
            <a:avLst/>
          </a:prstGeom>
          <a:noFill/>
        </p:spPr>
        <p:txBody>
          <a:bodyPr wrap="square" lIns="0" tIns="0" rIns="0" bIns="0" anchor="t">
            <a:spAutoFit/>
          </a:bodyPr>
          <a:lstStyle/>
          <a:p>
            <a:pPr algn="l">
              <a:spcBef>
                <a:spcPts val="0"/>
              </a:spcBef>
              <a:spcAft>
                <a:spcPts val="0"/>
              </a:spcAft>
            </a:pPr>
            <a:r>
              <a:rPr sz="950" b="1" i="0">
                <a:solidFill>
                  <a:srgbClr val="007438"/>
                </a:solidFill>
                <a:latin typeface="Calibri"/>
              </a:rPr>
              <a:t>RECOMMENDATION</a:t>
            </a:r>
          </a:p>
        </p:txBody>
      </p:sp>
      <p:sp>
        <p:nvSpPr>
          <p:cNvPr id="14" name="TextBox 13"/>
          <p:cNvSpPr txBox="1"/>
          <p:nvPr/>
        </p:nvSpPr>
        <p:spPr>
          <a:xfrm>
            <a:off x="832104" y="5852160"/>
            <a:ext cx="8156448" cy="658368"/>
          </a:xfrm>
          <a:prstGeom prst="rect">
            <a:avLst/>
          </a:prstGeom>
          <a:noFill/>
        </p:spPr>
        <p:txBody>
          <a:bodyPr wrap="square" lIns="0" tIns="0" rIns="0" bIns="0" anchor="t">
            <a:spAutoFit/>
          </a:bodyPr>
          <a:lstStyle/>
          <a:p>
            <a:pPr algn="l">
              <a:spcBef>
                <a:spcPts val="0"/>
              </a:spcBef>
              <a:spcAft>
                <a:spcPts val="300"/>
              </a:spcAft>
            </a:pPr>
            <a:r>
              <a:rPr sz="1450" b="1" i="0">
                <a:solidFill>
                  <a:srgbClr val="002B55"/>
                </a:solidFill>
                <a:latin typeface="Calibri"/>
              </a:rPr>
              <a:t>A pay floor for the under-$2,500 band, and a first equity grant for the 631 with none</a:t>
            </a:r>
          </a:p>
          <a:p>
            <a:pPr algn="l">
              <a:spcBef>
                <a:spcPts val="0"/>
              </a:spcBef>
              <a:spcAft>
                <a:spcPts val="0"/>
              </a:spcAft>
            </a:pPr>
            <a:r>
              <a:rPr sz="1150" b="0" i="0">
                <a:solidFill>
                  <a:srgbClr val="52514E"/>
                </a:solidFill>
                <a:latin typeface="Calibri"/>
              </a:rPr>
              <a:t>Fixing only the 70 lowest-paid overtime salaries is worth about 36 exits. The equity effect sits entirely in the step from no options to one level.</a:t>
            </a:r>
          </a:p>
        </p:txBody>
      </p:sp>
      <p:sp>
        <p:nvSpPr>
          <p:cNvPr id="15" name="Rounded Rectangle 14"/>
          <p:cNvSpPr/>
          <p:nvPr/>
        </p:nvSpPr>
        <p:spPr>
          <a:xfrm>
            <a:off x="9345168" y="5669280"/>
            <a:ext cx="2103120" cy="731519"/>
          </a:xfrm>
          <a:prstGeom prst="roundRect">
            <a:avLst>
              <a:gd name="adj" fmla="val 6000"/>
            </a:avLst>
          </a:prstGeom>
          <a:solidFill>
            <a:srgbClr val="D6EE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45168" y="5779008"/>
            <a:ext cx="2103120" cy="640080"/>
          </a:xfrm>
          <a:prstGeom prst="rect">
            <a:avLst/>
          </a:prstGeom>
          <a:noFill/>
        </p:spPr>
        <p:txBody>
          <a:bodyPr wrap="square" lIns="0" tIns="0" rIns="0" bIns="0" anchor="t">
            <a:spAutoFit/>
          </a:bodyPr>
          <a:lstStyle/>
          <a:p>
            <a:pPr algn="ctr">
              <a:spcBef>
                <a:spcPts val="0"/>
              </a:spcBef>
              <a:spcAft>
                <a:spcPts val="100"/>
              </a:spcAft>
            </a:pPr>
            <a:r>
              <a:rPr sz="1900" b="1" i="0">
                <a:solidFill>
                  <a:srgbClr val="007438"/>
                </a:solidFill>
                <a:latin typeface="Calibri"/>
              </a:rPr>
              <a:t>~55-70 exits</a:t>
            </a:r>
          </a:p>
          <a:p>
            <a:pPr algn="ctr">
              <a:spcBef>
                <a:spcPts val="0"/>
              </a:spcBef>
              <a:spcAft>
                <a:spcPts val="0"/>
              </a:spcAft>
            </a:pPr>
            <a:r>
              <a:rPr sz="900" b="0" i="0">
                <a:solidFill>
                  <a:srgbClr val="52514E"/>
                </a:solidFill>
                <a:latin typeface="Calibri"/>
              </a:rPr>
              <a:t>expected saving / year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45720" cy="438912"/>
          </a:xfrm>
          <a:prstGeom prst="roundRect">
            <a:avLst/>
          </a:prstGeom>
          <a:solidFill>
            <a:srgbClr val="00A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310896"/>
            <a:ext cx="10881360" cy="914400"/>
          </a:xfrm>
          <a:prstGeom prst="rect">
            <a:avLst/>
          </a:prstGeom>
          <a:noFill/>
        </p:spPr>
        <p:txBody>
          <a:bodyPr wrap="square" lIns="0" tIns="0" rIns="0" bIns="0" anchor="t">
            <a:spAutoFit/>
          </a:bodyPr>
          <a:lstStyle/>
          <a:p>
            <a:pPr algn="l">
              <a:spcBef>
                <a:spcPts val="0"/>
              </a:spcBef>
              <a:spcAft>
                <a:spcPts val="200"/>
              </a:spcAft>
            </a:pPr>
            <a:r>
              <a:rPr sz="2600" b="1" i="0">
                <a:solidFill>
                  <a:srgbClr val="002B55"/>
                </a:solidFill>
                <a:latin typeface="Calibri"/>
              </a:rPr>
              <a:t>The first year decides</a:t>
            </a:r>
          </a:p>
          <a:p>
            <a:pPr algn="l">
              <a:spcBef>
                <a:spcPts val="0"/>
              </a:spcBef>
              <a:spcAft>
                <a:spcPts val="0"/>
              </a:spcAft>
            </a:pPr>
            <a:r>
              <a:rPr sz="1300" b="0" i="0">
                <a:solidFill>
                  <a:srgbClr val="52514E"/>
                </a:solidFill>
                <a:latin typeface="Calibri"/>
              </a:rPr>
              <a:t>One in three new hires never reaches year two — before onboarding has paid for itself.</a:t>
            </a:r>
          </a:p>
        </p:txBody>
      </p:sp>
      <p:pic>
        <p:nvPicPr>
          <p:cNvPr id="4" name="Picture 3" descr="chart_tenure.png"/>
          <p:cNvPicPr>
            <a:picLocks noChangeAspect="1"/>
          </p:cNvPicPr>
          <p:nvPr/>
        </p:nvPicPr>
        <p:blipFill>
          <a:blip r:embed="rId3"/>
          <a:stretch>
            <a:fillRect/>
          </a:stretch>
        </p:blipFill>
        <p:spPr>
          <a:xfrm>
            <a:off x="457200" y="1627632"/>
            <a:ext cx="5349240" cy="3510439"/>
          </a:xfrm>
          <a:prstGeom prst="rect">
            <a:avLst/>
          </a:prstGeom>
        </p:spPr>
      </p:pic>
      <p:pic>
        <p:nvPicPr>
          <p:cNvPr id="5" name="Picture 4" descr="chart_experience.png"/>
          <p:cNvPicPr>
            <a:picLocks noChangeAspect="1"/>
          </p:cNvPicPr>
          <p:nvPr/>
        </p:nvPicPr>
        <p:blipFill>
          <a:blip r:embed="rId4"/>
          <a:stretch>
            <a:fillRect/>
          </a:stretch>
        </p:blipFill>
        <p:spPr>
          <a:xfrm>
            <a:off x="6217920" y="1627632"/>
            <a:ext cx="4617720" cy="3591560"/>
          </a:xfrm>
          <a:prstGeom prst="rect">
            <a:avLst/>
          </a:prstGeom>
        </p:spPr>
      </p:pic>
      <p:sp>
        <p:nvSpPr>
          <p:cNvPr id="6" name="Rounded Rectangle 5"/>
          <p:cNvSpPr/>
          <p:nvPr/>
        </p:nvSpPr>
        <p:spPr>
          <a:xfrm>
            <a:off x="502920" y="5486400"/>
            <a:ext cx="11173968" cy="1097280"/>
          </a:xfrm>
          <a:prstGeom prst="roundRect">
            <a:avLst>
              <a:gd name="adj" fmla="val 6000"/>
            </a:avLst>
          </a:prstGeom>
          <a:solidFill>
            <a:srgbClr val="EC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30352" y="5513832"/>
            <a:ext cx="50292" cy="1042415"/>
          </a:xfrm>
          <a:prstGeom prst="roundRect">
            <a:avLst/>
          </a:prstGeom>
          <a:solidFill>
            <a:srgbClr val="00A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2104" y="5614416"/>
            <a:ext cx="8156448" cy="256032"/>
          </a:xfrm>
          <a:prstGeom prst="rect">
            <a:avLst/>
          </a:prstGeom>
          <a:noFill/>
        </p:spPr>
        <p:txBody>
          <a:bodyPr wrap="square" lIns="0" tIns="0" rIns="0" bIns="0" anchor="t">
            <a:spAutoFit/>
          </a:bodyPr>
          <a:lstStyle/>
          <a:p>
            <a:pPr algn="l">
              <a:spcBef>
                <a:spcPts val="0"/>
              </a:spcBef>
              <a:spcAft>
                <a:spcPts val="0"/>
              </a:spcAft>
            </a:pPr>
            <a:r>
              <a:rPr sz="950" b="1" i="0">
                <a:solidFill>
                  <a:srgbClr val="007438"/>
                </a:solidFill>
                <a:latin typeface="Calibri"/>
              </a:rPr>
              <a:t>RECOMMENDATION</a:t>
            </a:r>
          </a:p>
        </p:txBody>
      </p:sp>
      <p:sp>
        <p:nvSpPr>
          <p:cNvPr id="9" name="TextBox 8"/>
          <p:cNvSpPr txBox="1"/>
          <p:nvPr/>
        </p:nvSpPr>
        <p:spPr>
          <a:xfrm>
            <a:off x="832104" y="5852160"/>
            <a:ext cx="8156448" cy="658368"/>
          </a:xfrm>
          <a:prstGeom prst="rect">
            <a:avLst/>
          </a:prstGeom>
          <a:noFill/>
        </p:spPr>
        <p:txBody>
          <a:bodyPr wrap="square" lIns="0" tIns="0" rIns="0" bIns="0" anchor="t">
            <a:spAutoFit/>
          </a:bodyPr>
          <a:lstStyle/>
          <a:p>
            <a:pPr algn="l">
              <a:spcBef>
                <a:spcPts val="0"/>
              </a:spcBef>
              <a:spcAft>
                <a:spcPts val="300"/>
              </a:spcAft>
            </a:pPr>
            <a:r>
              <a:rPr sz="1450" b="1" i="0">
                <a:solidFill>
                  <a:srgbClr val="002B55"/>
                </a:solidFill>
                <a:latin typeface="Calibri"/>
              </a:rPr>
              <a:t>A 12-month protection window — no overtime in year one, plus 30-60-90 onboarding</a:t>
            </a:r>
          </a:p>
          <a:p>
            <a:pPr algn="l">
              <a:spcBef>
                <a:spcPts val="0"/>
              </a:spcBef>
              <a:spcAft>
                <a:spcPts val="0"/>
              </a:spcAft>
            </a:pPr>
            <a:r>
              <a:rPr sz="1150" b="0" i="0">
                <a:solidFill>
                  <a:srgbClr val="52514E"/>
                </a:solidFill>
                <a:latin typeface="Calibri"/>
              </a:rPr>
              <a:t>34.9% leave in year one against 18.4% in years two to three. Half of overtime-loaded new joiners are gone within two years.</a:t>
            </a:r>
          </a:p>
        </p:txBody>
      </p:sp>
      <p:sp>
        <p:nvSpPr>
          <p:cNvPr id="10" name="Rounded Rectangle 9"/>
          <p:cNvSpPr/>
          <p:nvPr/>
        </p:nvSpPr>
        <p:spPr>
          <a:xfrm>
            <a:off x="9345168" y="5669280"/>
            <a:ext cx="2103120" cy="731519"/>
          </a:xfrm>
          <a:prstGeom prst="roundRect">
            <a:avLst>
              <a:gd name="adj" fmla="val 6000"/>
            </a:avLst>
          </a:prstGeom>
          <a:solidFill>
            <a:srgbClr val="D6EE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45168" y="5779008"/>
            <a:ext cx="2103120" cy="640080"/>
          </a:xfrm>
          <a:prstGeom prst="rect">
            <a:avLst/>
          </a:prstGeom>
          <a:noFill/>
        </p:spPr>
        <p:txBody>
          <a:bodyPr wrap="square" lIns="0" tIns="0" rIns="0" bIns="0" anchor="t">
            <a:spAutoFit/>
          </a:bodyPr>
          <a:lstStyle/>
          <a:p>
            <a:pPr algn="ctr">
              <a:spcBef>
                <a:spcPts val="0"/>
              </a:spcBef>
              <a:spcAft>
                <a:spcPts val="100"/>
              </a:spcAft>
            </a:pPr>
            <a:r>
              <a:rPr sz="1900" b="1" i="0">
                <a:solidFill>
                  <a:srgbClr val="007438"/>
                </a:solidFill>
                <a:latin typeface="Calibri"/>
              </a:rPr>
              <a:t>~35 exits</a:t>
            </a:r>
          </a:p>
          <a:p>
            <a:pPr algn="ctr">
              <a:spcBef>
                <a:spcPts val="0"/>
              </a:spcBef>
              <a:spcAft>
                <a:spcPts val="0"/>
              </a:spcAft>
            </a:pPr>
            <a:r>
              <a:rPr sz="900" b="0" i="0">
                <a:solidFill>
                  <a:srgbClr val="52514E"/>
                </a:solidFill>
                <a:latin typeface="Calibri"/>
              </a:rPr>
              <a:t>expected saving / year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45720" cy="438912"/>
          </a:xfrm>
          <a:prstGeom prst="roundRect">
            <a:avLst/>
          </a:prstGeom>
          <a:solidFill>
            <a:srgbClr val="00A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310896"/>
            <a:ext cx="10881360" cy="914400"/>
          </a:xfrm>
          <a:prstGeom prst="rect">
            <a:avLst/>
          </a:prstGeom>
          <a:noFill/>
        </p:spPr>
        <p:txBody>
          <a:bodyPr wrap="square" lIns="0" tIns="0" rIns="0" bIns="0" anchor="t">
            <a:spAutoFit/>
          </a:bodyPr>
          <a:lstStyle/>
          <a:p>
            <a:pPr algn="l">
              <a:spcBef>
                <a:spcPts val="0"/>
              </a:spcBef>
              <a:spcAft>
                <a:spcPts val="200"/>
              </a:spcAft>
            </a:pPr>
            <a:r>
              <a:rPr sz="2600" b="1" i="0">
                <a:solidFill>
                  <a:srgbClr val="002B55"/>
                </a:solidFill>
                <a:latin typeface="Calibri"/>
              </a:rPr>
              <a:t>The plan, sequenced</a:t>
            </a:r>
          </a:p>
          <a:p>
            <a:pPr algn="l">
              <a:spcBef>
                <a:spcPts val="0"/>
              </a:spcBef>
              <a:spcAft>
                <a:spcPts val="0"/>
              </a:spcAft>
            </a:pPr>
            <a:r>
              <a:rPr sz="1300" b="0" i="0">
                <a:solidFill>
                  <a:srgbClr val="52514E"/>
                </a:solidFill>
                <a:latin typeface="Calibri"/>
              </a:rPr>
              <a:t>Policy first because it is free. Money second, only where the evidence says it pays back.</a:t>
            </a:r>
          </a:p>
        </p:txBody>
      </p:sp>
      <p:sp>
        <p:nvSpPr>
          <p:cNvPr id="4" name="Rounded Rectangle 3"/>
          <p:cNvSpPr/>
          <p:nvPr/>
        </p:nvSpPr>
        <p:spPr>
          <a:xfrm>
            <a:off x="502920" y="1691640"/>
            <a:ext cx="3657600" cy="434340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58952" y="1938528"/>
            <a:ext cx="45720" cy="310896"/>
          </a:xfrm>
          <a:prstGeom prst="roundRect">
            <a:avLst/>
          </a:prstGeom>
          <a:solidFill>
            <a:srgbClr val="00A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41832" y="1883664"/>
            <a:ext cx="3017520" cy="548640"/>
          </a:xfrm>
          <a:prstGeom prst="rect">
            <a:avLst/>
          </a:prstGeom>
          <a:noFill/>
        </p:spPr>
        <p:txBody>
          <a:bodyPr wrap="square" lIns="0" tIns="0" rIns="0" bIns="0" anchor="t">
            <a:spAutoFit/>
          </a:bodyPr>
          <a:lstStyle/>
          <a:p>
            <a:pPr algn="l">
              <a:spcBef>
                <a:spcPts val="0"/>
              </a:spcBef>
              <a:spcAft>
                <a:spcPts val="100"/>
              </a:spcAft>
            </a:pPr>
            <a:r>
              <a:rPr sz="1250" b="1" i="0">
                <a:solidFill>
                  <a:srgbClr val="00AC4F"/>
                </a:solidFill>
                <a:latin typeface="Calibri"/>
              </a:rPr>
              <a:t>0 – 3 MONTHS</a:t>
            </a:r>
          </a:p>
          <a:p>
            <a:pPr algn="l">
              <a:spcBef>
                <a:spcPts val="0"/>
              </a:spcBef>
              <a:spcAft>
                <a:spcPts val="0"/>
              </a:spcAft>
            </a:pPr>
            <a:r>
              <a:rPr sz="1000" b="0" i="0">
                <a:solidFill>
                  <a:srgbClr val="8C9AA8"/>
                </a:solidFill>
                <a:latin typeface="Calibri"/>
              </a:rPr>
              <a:t>governance · no budget</a:t>
            </a:r>
          </a:p>
        </p:txBody>
      </p:sp>
      <p:sp>
        <p:nvSpPr>
          <p:cNvPr id="7" name="TextBox 6"/>
          <p:cNvSpPr txBox="1"/>
          <p:nvPr/>
        </p:nvSpPr>
        <p:spPr>
          <a:xfrm>
            <a:off x="777240" y="2606040"/>
            <a:ext cx="3154680" cy="3291840"/>
          </a:xfrm>
          <a:prstGeom prst="rect">
            <a:avLst/>
          </a:prstGeom>
          <a:noFill/>
        </p:spPr>
        <p:txBody>
          <a:bodyPr wrap="square" lIns="0" tIns="0" rIns="0" bIns="0" anchor="t">
            <a:spAutoFit/>
          </a:bodyPr>
          <a:lstStyle/>
          <a:p>
            <a:endParaRPr/>
          </a:p>
          <a:p>
            <a:pPr algn="l">
              <a:spcBef>
                <a:spcPts val="0"/>
              </a:spcBef>
              <a:spcAft>
                <a:spcPts val="200"/>
              </a:spcAft>
            </a:pPr>
            <a:r>
              <a:rPr sz="1250" b="1" i="0">
                <a:solidFill>
                  <a:srgbClr val="12212F"/>
                </a:solidFill>
                <a:latin typeface="Calibri"/>
              </a:rPr>
              <a:t>Overtime caps for entry level and first-year staff</a:t>
            </a:r>
          </a:p>
          <a:p>
            <a:pPr algn="l">
              <a:spcBef>
                <a:spcPts val="0"/>
              </a:spcBef>
              <a:spcAft>
                <a:spcPts val="1300"/>
              </a:spcAft>
            </a:pPr>
            <a:r>
              <a:rPr sz="1150" b="0" i="0">
                <a:solidFill>
                  <a:srgbClr val="007438"/>
                </a:solidFill>
                <a:latin typeface="Calibri"/>
              </a:rPr>
              <a:t>~60 exits</a:t>
            </a:r>
          </a:p>
          <a:p>
            <a:pPr algn="l">
              <a:spcBef>
                <a:spcPts val="0"/>
              </a:spcBef>
              <a:spcAft>
                <a:spcPts val="200"/>
              </a:spcAft>
            </a:pPr>
            <a:r>
              <a:rPr sz="1250" b="1" i="0">
                <a:solidFill>
                  <a:srgbClr val="12212F"/>
                </a:solidFill>
                <a:latin typeface="Calibri"/>
              </a:rPr>
              <a:t>Stop routine overtime for Sales Representatives</a:t>
            </a:r>
          </a:p>
          <a:p>
            <a:pPr algn="l">
              <a:spcBef>
                <a:spcPts val="0"/>
              </a:spcBef>
              <a:spcAft>
                <a:spcPts val="1300"/>
              </a:spcAft>
            </a:pPr>
            <a:r>
              <a:rPr sz="1150" b="0" i="0">
                <a:solidFill>
                  <a:srgbClr val="007438"/>
                </a:solidFill>
                <a:latin typeface="Calibri"/>
              </a:rPr>
              <a:t>~11 exits</a:t>
            </a:r>
          </a:p>
          <a:p>
            <a:pPr algn="l">
              <a:spcBef>
                <a:spcPts val="0"/>
              </a:spcBef>
              <a:spcAft>
                <a:spcPts val="200"/>
              </a:spcAft>
            </a:pPr>
            <a:r>
              <a:rPr sz="1250" b="1" i="0">
                <a:solidFill>
                  <a:srgbClr val="12212F"/>
                </a:solidFill>
                <a:latin typeface="Calibri"/>
              </a:rPr>
              <a:t>Triage the bottom satisfaction scores only</a:t>
            </a:r>
          </a:p>
          <a:p>
            <a:pPr algn="l">
              <a:spcBef>
                <a:spcPts val="0"/>
              </a:spcBef>
              <a:spcAft>
                <a:spcPts val="1300"/>
              </a:spcAft>
            </a:pPr>
            <a:r>
              <a:rPr sz="1150" b="0" i="0">
                <a:solidFill>
                  <a:srgbClr val="007438"/>
                </a:solidFill>
                <a:latin typeface="Calibri"/>
              </a:rPr>
              <a:t>~29 exits</a:t>
            </a:r>
          </a:p>
          <a:p>
            <a:pPr algn="l">
              <a:spcBef>
                <a:spcPts val="0"/>
              </a:spcBef>
              <a:spcAft>
                <a:spcPts val="200"/>
              </a:spcAft>
            </a:pPr>
            <a:r>
              <a:rPr sz="1250" b="1" i="0">
                <a:solidFill>
                  <a:srgbClr val="12212F"/>
                </a:solidFill>
                <a:latin typeface="Calibri"/>
              </a:rPr>
              <a:t>Rebuild reporting around risk tiers</a:t>
            </a:r>
          </a:p>
          <a:p>
            <a:pPr algn="l">
              <a:spcBef>
                <a:spcPts val="0"/>
              </a:spcBef>
              <a:spcAft>
                <a:spcPts val="1300"/>
              </a:spcAft>
            </a:pPr>
            <a:r>
              <a:rPr sz="1150" b="0" i="0">
                <a:solidFill>
                  <a:srgbClr val="8C9AA8"/>
                </a:solidFill>
                <a:latin typeface="Calibri"/>
              </a:rPr>
              <a:t>focus</a:t>
            </a:r>
          </a:p>
        </p:txBody>
      </p:sp>
      <p:sp>
        <p:nvSpPr>
          <p:cNvPr id="8" name="Rounded Rectangle 7"/>
          <p:cNvSpPr/>
          <p:nvPr/>
        </p:nvSpPr>
        <p:spPr>
          <a:xfrm>
            <a:off x="4306824" y="1691640"/>
            <a:ext cx="3657600" cy="434340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562856" y="1938528"/>
            <a:ext cx="45720" cy="310896"/>
          </a:xfrm>
          <a:prstGeom prst="roundRect">
            <a:avLst/>
          </a:prstGeom>
          <a:solidFill>
            <a:srgbClr val="003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45736" y="1883664"/>
            <a:ext cx="3017520" cy="548640"/>
          </a:xfrm>
          <a:prstGeom prst="rect">
            <a:avLst/>
          </a:prstGeom>
          <a:noFill/>
        </p:spPr>
        <p:txBody>
          <a:bodyPr wrap="square" lIns="0" tIns="0" rIns="0" bIns="0" anchor="t">
            <a:spAutoFit/>
          </a:bodyPr>
          <a:lstStyle/>
          <a:p>
            <a:pPr algn="l">
              <a:spcBef>
                <a:spcPts val="0"/>
              </a:spcBef>
              <a:spcAft>
                <a:spcPts val="100"/>
              </a:spcAft>
            </a:pPr>
            <a:r>
              <a:rPr sz="1250" b="1" i="0">
                <a:solidFill>
                  <a:srgbClr val="003D77"/>
                </a:solidFill>
                <a:latin typeface="Calibri"/>
              </a:rPr>
              <a:t>3 – 9 MONTHS</a:t>
            </a:r>
          </a:p>
          <a:p>
            <a:pPr algn="l">
              <a:spcBef>
                <a:spcPts val="0"/>
              </a:spcBef>
              <a:spcAft>
                <a:spcPts val="0"/>
              </a:spcAft>
            </a:pPr>
            <a:r>
              <a:rPr sz="1000" b="0" i="0">
                <a:solidFill>
                  <a:srgbClr val="8C9AA8"/>
                </a:solidFill>
                <a:latin typeface="Calibri"/>
              </a:rPr>
              <a:t>targeted spend</a:t>
            </a:r>
          </a:p>
        </p:txBody>
      </p:sp>
      <p:sp>
        <p:nvSpPr>
          <p:cNvPr id="11" name="TextBox 10"/>
          <p:cNvSpPr txBox="1"/>
          <p:nvPr/>
        </p:nvSpPr>
        <p:spPr>
          <a:xfrm>
            <a:off x="4581144" y="2606040"/>
            <a:ext cx="3154680" cy="3291840"/>
          </a:xfrm>
          <a:prstGeom prst="rect">
            <a:avLst/>
          </a:prstGeom>
          <a:noFill/>
        </p:spPr>
        <p:txBody>
          <a:bodyPr wrap="square" lIns="0" tIns="0" rIns="0" bIns="0" anchor="t">
            <a:spAutoFit/>
          </a:bodyPr>
          <a:lstStyle/>
          <a:p>
            <a:endParaRPr/>
          </a:p>
          <a:p>
            <a:pPr algn="l">
              <a:spcBef>
                <a:spcPts val="0"/>
              </a:spcBef>
              <a:spcAft>
                <a:spcPts val="200"/>
              </a:spcAft>
            </a:pPr>
            <a:r>
              <a:rPr sz="1250" b="1" i="0">
                <a:solidFill>
                  <a:srgbClr val="12212F"/>
                </a:solidFill>
                <a:latin typeface="Calibri"/>
              </a:rPr>
              <a:t>Pay floor for the under-$2,500 band</a:t>
            </a:r>
          </a:p>
          <a:p>
            <a:pPr algn="l">
              <a:spcBef>
                <a:spcPts val="0"/>
              </a:spcBef>
              <a:spcAft>
                <a:spcPts val="1300"/>
              </a:spcAft>
            </a:pPr>
            <a:r>
              <a:rPr sz="1150" b="0" i="0">
                <a:solidFill>
                  <a:srgbClr val="007438"/>
                </a:solidFill>
                <a:latin typeface="Calibri"/>
              </a:rPr>
              <a:t>~36 exits</a:t>
            </a:r>
          </a:p>
          <a:p>
            <a:pPr algn="l">
              <a:spcBef>
                <a:spcPts val="0"/>
              </a:spcBef>
              <a:spcAft>
                <a:spcPts val="200"/>
              </a:spcAft>
            </a:pPr>
            <a:r>
              <a:rPr sz="1250" b="1" i="0">
                <a:solidFill>
                  <a:srgbClr val="12212F"/>
                </a:solidFill>
                <a:latin typeface="Calibri"/>
              </a:rPr>
              <a:t>Market benchmark for the three bleeding roles</a:t>
            </a:r>
          </a:p>
          <a:p>
            <a:pPr algn="l">
              <a:spcBef>
                <a:spcPts val="0"/>
              </a:spcBef>
              <a:spcAft>
                <a:spcPts val="1300"/>
              </a:spcAft>
            </a:pPr>
            <a:r>
              <a:rPr sz="1150" b="0" i="0">
                <a:solidFill>
                  <a:srgbClr val="8C9AA8"/>
                </a:solidFill>
                <a:latin typeface="Calibri"/>
              </a:rPr>
              <a:t>part of 142</a:t>
            </a:r>
          </a:p>
          <a:p>
            <a:pPr algn="l">
              <a:spcBef>
                <a:spcPts val="0"/>
              </a:spcBef>
              <a:spcAft>
                <a:spcPts val="200"/>
              </a:spcAft>
            </a:pPr>
            <a:r>
              <a:rPr sz="1250" b="1" i="0">
                <a:solidFill>
                  <a:srgbClr val="12212F"/>
                </a:solidFill>
                <a:latin typeface="Calibri"/>
              </a:rPr>
              <a:t>Level-1 equity for the 631 with none</a:t>
            </a:r>
          </a:p>
          <a:p>
            <a:pPr algn="l">
              <a:spcBef>
                <a:spcPts val="0"/>
              </a:spcBef>
              <a:spcAft>
                <a:spcPts val="1300"/>
              </a:spcAft>
            </a:pPr>
            <a:r>
              <a:rPr sz="1150" b="0" i="0">
                <a:solidFill>
                  <a:srgbClr val="007438"/>
                </a:solidFill>
                <a:latin typeface="Calibri"/>
              </a:rPr>
              <a:t>~25-30 exits</a:t>
            </a:r>
          </a:p>
          <a:p>
            <a:pPr algn="l">
              <a:spcBef>
                <a:spcPts val="0"/>
              </a:spcBef>
              <a:spcAft>
                <a:spcPts val="200"/>
              </a:spcAft>
            </a:pPr>
            <a:r>
              <a:rPr sz="1250" b="1" i="0">
                <a:solidFill>
                  <a:srgbClr val="12212F"/>
                </a:solidFill>
                <a:latin typeface="Calibri"/>
              </a:rPr>
              <a:t>Structured 30-60-90 onboarding</a:t>
            </a:r>
          </a:p>
          <a:p>
            <a:pPr algn="l">
              <a:spcBef>
                <a:spcPts val="0"/>
              </a:spcBef>
              <a:spcAft>
                <a:spcPts val="1300"/>
              </a:spcAft>
            </a:pPr>
            <a:r>
              <a:rPr sz="1150" b="0" i="0">
                <a:solidFill>
                  <a:srgbClr val="007438"/>
                </a:solidFill>
                <a:latin typeface="Calibri"/>
              </a:rPr>
              <a:t>~35 exits</a:t>
            </a:r>
          </a:p>
        </p:txBody>
      </p:sp>
      <p:sp>
        <p:nvSpPr>
          <p:cNvPr id="12" name="Rounded Rectangle 11"/>
          <p:cNvSpPr/>
          <p:nvPr/>
        </p:nvSpPr>
        <p:spPr>
          <a:xfrm>
            <a:off x="8110728" y="1691640"/>
            <a:ext cx="3657600" cy="434340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366760" y="1938528"/>
            <a:ext cx="45720" cy="310896"/>
          </a:xfrm>
          <a:prstGeom prst="roundRect">
            <a:avLst/>
          </a:prstGeom>
          <a:solidFill>
            <a:srgbClr val="002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49640" y="1883664"/>
            <a:ext cx="3017520" cy="548640"/>
          </a:xfrm>
          <a:prstGeom prst="rect">
            <a:avLst/>
          </a:prstGeom>
          <a:noFill/>
        </p:spPr>
        <p:txBody>
          <a:bodyPr wrap="square" lIns="0" tIns="0" rIns="0" bIns="0" anchor="t">
            <a:spAutoFit/>
          </a:bodyPr>
          <a:lstStyle/>
          <a:p>
            <a:pPr algn="l">
              <a:spcBef>
                <a:spcPts val="0"/>
              </a:spcBef>
              <a:spcAft>
                <a:spcPts val="100"/>
              </a:spcAft>
            </a:pPr>
            <a:r>
              <a:rPr sz="1250" b="1" i="0">
                <a:solidFill>
                  <a:srgbClr val="002B55"/>
                </a:solidFill>
                <a:latin typeface="Calibri"/>
              </a:rPr>
              <a:t>9+ MONTHS</a:t>
            </a:r>
          </a:p>
          <a:p>
            <a:pPr algn="l">
              <a:spcBef>
                <a:spcPts val="0"/>
              </a:spcBef>
              <a:spcAft>
                <a:spcPts val="0"/>
              </a:spcAft>
            </a:pPr>
            <a:r>
              <a:rPr sz="1000" b="0" i="0">
                <a:solidFill>
                  <a:srgbClr val="8C9AA8"/>
                </a:solidFill>
                <a:latin typeface="Calibri"/>
              </a:rPr>
              <a:t>structural</a:t>
            </a:r>
          </a:p>
        </p:txBody>
      </p:sp>
      <p:sp>
        <p:nvSpPr>
          <p:cNvPr id="15" name="TextBox 14"/>
          <p:cNvSpPr txBox="1"/>
          <p:nvPr/>
        </p:nvSpPr>
        <p:spPr>
          <a:xfrm>
            <a:off x="8385048" y="2606040"/>
            <a:ext cx="3154680" cy="3291840"/>
          </a:xfrm>
          <a:prstGeom prst="rect">
            <a:avLst/>
          </a:prstGeom>
          <a:noFill/>
        </p:spPr>
        <p:txBody>
          <a:bodyPr wrap="square" lIns="0" tIns="0" rIns="0" bIns="0" anchor="t">
            <a:spAutoFit/>
          </a:bodyPr>
          <a:lstStyle/>
          <a:p>
            <a:endParaRPr/>
          </a:p>
          <a:p>
            <a:pPr algn="l">
              <a:spcBef>
                <a:spcPts val="0"/>
              </a:spcBef>
              <a:spcAft>
                <a:spcPts val="200"/>
              </a:spcAft>
            </a:pPr>
            <a:r>
              <a:rPr sz="1250" b="1" i="0">
                <a:solidFill>
                  <a:srgbClr val="12212F"/>
                </a:solidFill>
                <a:latin typeface="Calibri"/>
              </a:rPr>
              <a:t>Published L1 → L2 progression framework</a:t>
            </a:r>
          </a:p>
          <a:p>
            <a:pPr algn="l">
              <a:spcBef>
                <a:spcPts val="0"/>
              </a:spcBef>
              <a:spcAft>
                <a:spcPts val="1300"/>
              </a:spcAft>
            </a:pPr>
            <a:r>
              <a:rPr sz="1150" b="0" i="0">
                <a:solidFill>
                  <a:srgbClr val="8C9AA8"/>
                </a:solidFill>
                <a:latin typeface="Calibri"/>
              </a:rPr>
              <a:t>durable</a:t>
            </a:r>
          </a:p>
          <a:p>
            <a:pPr algn="l">
              <a:spcBef>
                <a:spcPts val="0"/>
              </a:spcBef>
              <a:spcAft>
                <a:spcPts val="200"/>
              </a:spcAft>
            </a:pPr>
            <a:r>
              <a:rPr sz="1250" b="1" i="0">
                <a:solidFill>
                  <a:srgbClr val="12212F"/>
                </a:solidFill>
                <a:latin typeface="Calibri"/>
              </a:rPr>
              <a:t>Manager continuity as a tracked risk flag</a:t>
            </a:r>
          </a:p>
          <a:p>
            <a:pPr algn="l">
              <a:spcBef>
                <a:spcPts val="0"/>
              </a:spcBef>
              <a:spcAft>
                <a:spcPts val="1300"/>
              </a:spcAft>
            </a:pPr>
            <a:r>
              <a:rPr sz="1150" b="0" i="0">
                <a:solidFill>
                  <a:srgbClr val="8C9AA8"/>
                </a:solidFill>
                <a:latin typeface="Calibri"/>
              </a:rPr>
              <a:t>durable</a:t>
            </a:r>
          </a:p>
          <a:p>
            <a:pPr algn="l">
              <a:spcBef>
                <a:spcPts val="0"/>
              </a:spcBef>
              <a:spcAft>
                <a:spcPts val="200"/>
              </a:spcAft>
            </a:pPr>
            <a:r>
              <a:rPr sz="1250" b="1" i="0">
                <a:solidFill>
                  <a:srgbClr val="12212F"/>
                </a:solidFill>
                <a:latin typeface="Calibri"/>
              </a:rPr>
              <a:t>Differentiated merit matrix for top performers</a:t>
            </a:r>
          </a:p>
          <a:p>
            <a:pPr algn="l">
              <a:spcBef>
                <a:spcPts val="0"/>
              </a:spcBef>
              <a:spcAft>
                <a:spcPts val="1300"/>
              </a:spcAft>
            </a:pPr>
            <a:r>
              <a:rPr sz="1150" b="0" i="0">
                <a:solidFill>
                  <a:srgbClr val="007438"/>
                </a:solidFill>
                <a:latin typeface="Calibri"/>
              </a:rPr>
              <a:t>15-20 stars</a:t>
            </a:r>
          </a:p>
          <a:p>
            <a:pPr algn="l">
              <a:spcBef>
                <a:spcPts val="0"/>
              </a:spcBef>
              <a:spcAft>
                <a:spcPts val="200"/>
              </a:spcAft>
            </a:pPr>
            <a:r>
              <a:rPr sz="1250" b="1" i="0">
                <a:solidFill>
                  <a:srgbClr val="12212F"/>
                </a:solidFill>
                <a:latin typeface="Calibri"/>
              </a:rPr>
              <a:t>Early-career retention track</a:t>
            </a:r>
          </a:p>
          <a:p>
            <a:pPr algn="l">
              <a:spcBef>
                <a:spcPts val="0"/>
              </a:spcBef>
              <a:spcAft>
                <a:spcPts val="1300"/>
              </a:spcAft>
            </a:pPr>
            <a:r>
              <a:rPr sz="1150" b="0" i="0">
                <a:solidFill>
                  <a:srgbClr val="8C9AA8"/>
                </a:solidFill>
                <a:latin typeface="Calibri"/>
              </a:rPr>
              <a:t>durable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B55"/>
        </a:solidFill>
        <a:effectLst/>
      </p:bgPr>
    </p:bg>
    <p:spTree>
      <p:nvGrpSpPr>
        <p:cNvPr id="1" name=""/>
        <p:cNvGrpSpPr/>
        <p:nvPr/>
      </p:nvGrpSpPr>
      <p:grpSpPr>
        <a:xfrm>
          <a:off x="0" y="0"/>
          <a:ext cx="0" cy="0"/>
          <a:chOff x="0" y="0"/>
          <a:chExt cx="0" cy="0"/>
        </a:xfrm>
      </p:grpSpPr>
      <p:sp>
        <p:nvSpPr>
          <p:cNvPr id="2" name="Rounded Rectangle 1"/>
          <p:cNvSpPr/>
          <p:nvPr/>
        </p:nvSpPr>
        <p:spPr>
          <a:xfrm>
            <a:off x="731520" y="658368"/>
            <a:ext cx="50292" cy="420624"/>
          </a:xfrm>
          <a:prstGeom prst="roundRect">
            <a:avLst/>
          </a:prstGeom>
          <a:solidFill>
            <a:srgbClr val="00A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32688" y="603504"/>
            <a:ext cx="10515600" cy="1005840"/>
          </a:xfrm>
          <a:prstGeom prst="rect">
            <a:avLst/>
          </a:prstGeom>
          <a:noFill/>
        </p:spPr>
        <p:txBody>
          <a:bodyPr wrap="square" lIns="0" tIns="0" rIns="0" bIns="0" anchor="t">
            <a:spAutoFit/>
          </a:bodyPr>
          <a:lstStyle/>
          <a:p>
            <a:pPr algn="l">
              <a:spcBef>
                <a:spcPts val="0"/>
              </a:spcBef>
              <a:spcAft>
                <a:spcPts val="300"/>
              </a:spcAft>
            </a:pPr>
            <a:r>
              <a:rPr sz="3000" b="1" i="0">
                <a:solidFill>
                  <a:srgbClr val="FFFFFF"/>
                </a:solidFill>
                <a:latin typeface="Calibri"/>
              </a:rPr>
              <a:t>What it is worth</a:t>
            </a:r>
          </a:p>
          <a:p>
            <a:pPr algn="l">
              <a:spcBef>
                <a:spcPts val="0"/>
              </a:spcBef>
              <a:spcAft>
                <a:spcPts val="0"/>
              </a:spcAft>
            </a:pPr>
            <a:r>
              <a:rPr sz="1400" b="0" i="0">
                <a:solidFill>
                  <a:srgbClr val="B8CFE6"/>
                </a:solidFill>
                <a:latin typeface="Calibri"/>
              </a:rPr>
              <a:t>Conservative arithmetic on segments we can name — not a target pulled from the air.</a:t>
            </a:r>
          </a:p>
        </p:txBody>
      </p:sp>
      <p:sp>
        <p:nvSpPr>
          <p:cNvPr id="4" name="Rounded Rectangle 3"/>
          <p:cNvSpPr/>
          <p:nvPr/>
        </p:nvSpPr>
        <p:spPr>
          <a:xfrm>
            <a:off x="777240" y="2011680"/>
            <a:ext cx="10607040" cy="960120"/>
          </a:xfrm>
          <a:prstGeom prst="roundRect">
            <a:avLst>
              <a:gd name="adj" fmla="val 6000"/>
            </a:avLst>
          </a:prstGeom>
          <a:solidFill>
            <a:srgbClr val="1B3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3000" y="2267712"/>
            <a:ext cx="5303520" cy="548640"/>
          </a:xfrm>
          <a:prstGeom prst="rect">
            <a:avLst/>
          </a:prstGeom>
          <a:noFill/>
        </p:spPr>
        <p:txBody>
          <a:bodyPr wrap="square" lIns="0" tIns="0" rIns="0" bIns="0" anchor="t">
            <a:spAutoFit/>
          </a:bodyPr>
          <a:lstStyle/>
          <a:p>
            <a:pPr algn="l">
              <a:spcBef>
                <a:spcPts val="0"/>
              </a:spcBef>
              <a:spcAft>
                <a:spcPts val="0"/>
              </a:spcAft>
            </a:pPr>
            <a:r>
              <a:rPr sz="1700" b="1" i="0">
                <a:solidFill>
                  <a:srgbClr val="FFFFFF"/>
                </a:solidFill>
                <a:latin typeface="Calibri"/>
              </a:rPr>
              <a:t>Overtime governance</a:t>
            </a:r>
          </a:p>
        </p:txBody>
      </p:sp>
      <p:sp>
        <p:nvSpPr>
          <p:cNvPr id="6" name="TextBox 5"/>
          <p:cNvSpPr txBox="1"/>
          <p:nvPr/>
        </p:nvSpPr>
        <p:spPr>
          <a:xfrm>
            <a:off x="6583680" y="2249424"/>
            <a:ext cx="2377440" cy="548640"/>
          </a:xfrm>
          <a:prstGeom prst="rect">
            <a:avLst/>
          </a:prstGeom>
          <a:noFill/>
        </p:spPr>
        <p:txBody>
          <a:bodyPr wrap="square" lIns="0" tIns="0" rIns="0" bIns="0" anchor="t">
            <a:spAutoFit/>
          </a:bodyPr>
          <a:lstStyle/>
          <a:p>
            <a:pPr algn="l">
              <a:spcBef>
                <a:spcPts val="0"/>
              </a:spcBef>
              <a:spcAft>
                <a:spcPts val="0"/>
              </a:spcAft>
            </a:pPr>
            <a:r>
              <a:rPr sz="1900" b="1" i="0">
                <a:solidFill>
                  <a:srgbClr val="7FE3AA"/>
                </a:solidFill>
                <a:latin typeface="Calibri"/>
              </a:rPr>
              <a:t>~84 exits</a:t>
            </a:r>
          </a:p>
        </p:txBody>
      </p:sp>
      <p:sp>
        <p:nvSpPr>
          <p:cNvPr id="7" name="TextBox 6"/>
          <p:cNvSpPr txBox="1"/>
          <p:nvPr/>
        </p:nvSpPr>
        <p:spPr>
          <a:xfrm>
            <a:off x="9144000" y="2286000"/>
            <a:ext cx="2103120" cy="548640"/>
          </a:xfrm>
          <a:prstGeom prst="rect">
            <a:avLst/>
          </a:prstGeom>
          <a:noFill/>
        </p:spPr>
        <p:txBody>
          <a:bodyPr wrap="square" lIns="0" tIns="0" rIns="0" bIns="0" anchor="t">
            <a:spAutoFit/>
          </a:bodyPr>
          <a:lstStyle/>
          <a:p>
            <a:pPr algn="l">
              <a:spcBef>
                <a:spcPts val="0"/>
              </a:spcBef>
              <a:spcAft>
                <a:spcPts val="0"/>
              </a:spcAft>
            </a:pPr>
            <a:r>
              <a:rPr sz="1300" b="0" i="0">
                <a:solidFill>
                  <a:srgbClr val="B8CFE6"/>
                </a:solidFill>
                <a:latin typeface="Calibri"/>
              </a:rPr>
              <a:t>35% of total attrition</a:t>
            </a:r>
          </a:p>
        </p:txBody>
      </p:sp>
      <p:sp>
        <p:nvSpPr>
          <p:cNvPr id="8" name="Rounded Rectangle 7"/>
          <p:cNvSpPr/>
          <p:nvPr/>
        </p:nvSpPr>
        <p:spPr>
          <a:xfrm>
            <a:off x="777240" y="3108960"/>
            <a:ext cx="10607040" cy="960120"/>
          </a:xfrm>
          <a:prstGeom prst="roundRect">
            <a:avLst>
              <a:gd name="adj" fmla="val 6000"/>
            </a:avLst>
          </a:prstGeom>
          <a:solidFill>
            <a:srgbClr val="1B3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 y="3364992"/>
            <a:ext cx="5303520" cy="548640"/>
          </a:xfrm>
          <a:prstGeom prst="rect">
            <a:avLst/>
          </a:prstGeom>
          <a:noFill/>
        </p:spPr>
        <p:txBody>
          <a:bodyPr wrap="square" lIns="0" tIns="0" rIns="0" bIns="0" anchor="t">
            <a:spAutoFit/>
          </a:bodyPr>
          <a:lstStyle/>
          <a:p>
            <a:pPr algn="l">
              <a:spcBef>
                <a:spcPts val="0"/>
              </a:spcBef>
              <a:spcAft>
                <a:spcPts val="0"/>
              </a:spcAft>
            </a:pPr>
            <a:r>
              <a:rPr sz="1700" b="1" i="0">
                <a:solidFill>
                  <a:srgbClr val="FFFFFF"/>
                </a:solidFill>
                <a:latin typeface="Calibri"/>
              </a:rPr>
              <a:t>First-year protection + onboarding</a:t>
            </a:r>
          </a:p>
        </p:txBody>
      </p:sp>
      <p:sp>
        <p:nvSpPr>
          <p:cNvPr id="10" name="TextBox 9"/>
          <p:cNvSpPr txBox="1"/>
          <p:nvPr/>
        </p:nvSpPr>
        <p:spPr>
          <a:xfrm>
            <a:off x="6583680" y="3346704"/>
            <a:ext cx="2377440" cy="548640"/>
          </a:xfrm>
          <a:prstGeom prst="rect">
            <a:avLst/>
          </a:prstGeom>
          <a:noFill/>
        </p:spPr>
        <p:txBody>
          <a:bodyPr wrap="square" lIns="0" tIns="0" rIns="0" bIns="0" anchor="t">
            <a:spAutoFit/>
          </a:bodyPr>
          <a:lstStyle/>
          <a:p>
            <a:pPr algn="l">
              <a:spcBef>
                <a:spcPts val="0"/>
              </a:spcBef>
              <a:spcAft>
                <a:spcPts val="0"/>
              </a:spcAft>
            </a:pPr>
            <a:r>
              <a:rPr sz="1900" b="1" i="0">
                <a:solidFill>
                  <a:srgbClr val="7FE3AA"/>
                </a:solidFill>
                <a:latin typeface="Calibri"/>
              </a:rPr>
              <a:t>~35 exits</a:t>
            </a:r>
          </a:p>
        </p:txBody>
      </p:sp>
      <p:sp>
        <p:nvSpPr>
          <p:cNvPr id="11" name="TextBox 10"/>
          <p:cNvSpPr txBox="1"/>
          <p:nvPr/>
        </p:nvSpPr>
        <p:spPr>
          <a:xfrm>
            <a:off x="9144000" y="3383280"/>
            <a:ext cx="2103120" cy="548640"/>
          </a:xfrm>
          <a:prstGeom prst="rect">
            <a:avLst/>
          </a:prstGeom>
          <a:noFill/>
        </p:spPr>
        <p:txBody>
          <a:bodyPr wrap="square" lIns="0" tIns="0" rIns="0" bIns="0" anchor="t">
            <a:spAutoFit/>
          </a:bodyPr>
          <a:lstStyle/>
          <a:p>
            <a:pPr algn="l">
              <a:spcBef>
                <a:spcPts val="0"/>
              </a:spcBef>
              <a:spcAft>
                <a:spcPts val="0"/>
              </a:spcAft>
            </a:pPr>
            <a:r>
              <a:rPr sz="1300" b="0" i="0">
                <a:solidFill>
                  <a:srgbClr val="B8CFE6"/>
                </a:solidFill>
                <a:latin typeface="Calibri"/>
              </a:rPr>
              <a:t>15%</a:t>
            </a:r>
          </a:p>
        </p:txBody>
      </p:sp>
      <p:sp>
        <p:nvSpPr>
          <p:cNvPr id="12" name="Rounded Rectangle 11"/>
          <p:cNvSpPr/>
          <p:nvPr/>
        </p:nvSpPr>
        <p:spPr>
          <a:xfrm>
            <a:off x="777240" y="4206240"/>
            <a:ext cx="10607040" cy="960120"/>
          </a:xfrm>
          <a:prstGeom prst="roundRect">
            <a:avLst>
              <a:gd name="adj" fmla="val 6000"/>
            </a:avLst>
          </a:prstGeom>
          <a:solidFill>
            <a:srgbClr val="1B3E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4462272"/>
            <a:ext cx="5303520" cy="548640"/>
          </a:xfrm>
          <a:prstGeom prst="rect">
            <a:avLst/>
          </a:prstGeom>
          <a:noFill/>
        </p:spPr>
        <p:txBody>
          <a:bodyPr wrap="square" lIns="0" tIns="0" rIns="0" bIns="0" anchor="t">
            <a:spAutoFit/>
          </a:bodyPr>
          <a:lstStyle/>
          <a:p>
            <a:pPr algn="l">
              <a:spcBef>
                <a:spcPts val="0"/>
              </a:spcBef>
              <a:spcAft>
                <a:spcPts val="0"/>
              </a:spcAft>
            </a:pPr>
            <a:r>
              <a:rPr sz="1700" b="1" i="0">
                <a:solidFill>
                  <a:srgbClr val="FFFFFF"/>
                </a:solidFill>
                <a:latin typeface="Calibri"/>
              </a:rPr>
              <a:t>Pay floor + first equity grant</a:t>
            </a:r>
          </a:p>
        </p:txBody>
      </p:sp>
      <p:sp>
        <p:nvSpPr>
          <p:cNvPr id="14" name="TextBox 13"/>
          <p:cNvSpPr txBox="1"/>
          <p:nvPr/>
        </p:nvSpPr>
        <p:spPr>
          <a:xfrm>
            <a:off x="6583680" y="4443984"/>
            <a:ext cx="2377440" cy="548640"/>
          </a:xfrm>
          <a:prstGeom prst="rect">
            <a:avLst/>
          </a:prstGeom>
          <a:noFill/>
        </p:spPr>
        <p:txBody>
          <a:bodyPr wrap="square" lIns="0" tIns="0" rIns="0" bIns="0" anchor="t">
            <a:spAutoFit/>
          </a:bodyPr>
          <a:lstStyle/>
          <a:p>
            <a:pPr algn="l">
              <a:spcBef>
                <a:spcPts val="0"/>
              </a:spcBef>
              <a:spcAft>
                <a:spcPts val="0"/>
              </a:spcAft>
            </a:pPr>
            <a:r>
              <a:rPr sz="1900" b="1" i="0">
                <a:solidFill>
                  <a:srgbClr val="7FE3AA"/>
                </a:solidFill>
                <a:latin typeface="Calibri"/>
              </a:rPr>
              <a:t>~55–70 exits</a:t>
            </a:r>
          </a:p>
        </p:txBody>
      </p:sp>
      <p:sp>
        <p:nvSpPr>
          <p:cNvPr id="15" name="TextBox 14"/>
          <p:cNvSpPr txBox="1"/>
          <p:nvPr/>
        </p:nvSpPr>
        <p:spPr>
          <a:xfrm>
            <a:off x="9144000" y="4480560"/>
            <a:ext cx="2103120" cy="548640"/>
          </a:xfrm>
          <a:prstGeom prst="rect">
            <a:avLst/>
          </a:prstGeom>
          <a:noFill/>
        </p:spPr>
        <p:txBody>
          <a:bodyPr wrap="square" lIns="0" tIns="0" rIns="0" bIns="0" anchor="t">
            <a:spAutoFit/>
          </a:bodyPr>
          <a:lstStyle/>
          <a:p>
            <a:pPr algn="l">
              <a:spcBef>
                <a:spcPts val="0"/>
              </a:spcBef>
              <a:spcAft>
                <a:spcPts val="0"/>
              </a:spcAft>
            </a:pPr>
            <a:r>
              <a:rPr sz="1300" b="0" i="0">
                <a:solidFill>
                  <a:srgbClr val="B8CFE6"/>
                </a:solidFill>
                <a:latin typeface="Calibri"/>
              </a:rPr>
              <a:t>23–30%</a:t>
            </a:r>
          </a:p>
        </p:txBody>
      </p:sp>
      <p:sp>
        <p:nvSpPr>
          <p:cNvPr id="16" name="TextBox 15"/>
          <p:cNvSpPr txBox="1"/>
          <p:nvPr/>
        </p:nvSpPr>
        <p:spPr>
          <a:xfrm>
            <a:off x="777240" y="5440680"/>
            <a:ext cx="10607040" cy="1188720"/>
          </a:xfrm>
          <a:prstGeom prst="rect">
            <a:avLst/>
          </a:prstGeom>
          <a:noFill/>
        </p:spPr>
        <p:txBody>
          <a:bodyPr wrap="square" lIns="0" tIns="0" rIns="0" bIns="0" anchor="t">
            <a:spAutoFit/>
          </a:bodyPr>
          <a:lstStyle/>
          <a:p>
            <a:pPr algn="l">
              <a:spcBef>
                <a:spcPts val="0"/>
              </a:spcBef>
              <a:spcAft>
                <a:spcPts val="900"/>
              </a:spcAft>
            </a:pPr>
            <a:r>
              <a:rPr sz="1600" b="1" i="0">
                <a:solidFill>
                  <a:srgbClr val="FFFFFF"/>
                </a:solidFill>
                <a:latin typeface="Calibri"/>
              </a:rPr>
              <a:t>The programmes overlap, so I would not add these up. The honest target is 16.1% → 10–11% within 12 to 18 months.</a:t>
            </a:r>
          </a:p>
          <a:p>
            <a:pPr algn="l">
              <a:spcBef>
                <a:spcPts val="0"/>
              </a:spcBef>
              <a:spcAft>
                <a:spcPts val="0"/>
              </a:spcAft>
            </a:pPr>
            <a:r>
              <a:rPr sz="1250" b="0" i="0">
                <a:solidFill>
                  <a:srgbClr val="9FB2D4"/>
                </a:solidFill>
                <a:latin typeface="Calibri"/>
              </a:rPr>
              <a:t>All of it is reproducible from the model: star schema · 31 DAX measures · what-if simulator · SQL · Python.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1578</Words>
  <Application>Microsoft Office PowerPoint</Application>
  <PresentationFormat>Widescreen</PresentationFormat>
  <Paragraphs>127</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Moataz Mahdy Elmesmary</cp:lastModifiedBy>
  <cp:revision>2</cp:revision>
  <dcterms:created xsi:type="dcterms:W3CDTF">2013-01-27T09:14:16Z</dcterms:created>
  <dcterms:modified xsi:type="dcterms:W3CDTF">2026-08-20T09:26:46Z</dcterms:modified>
  <cp:category/>
</cp:coreProperties>
</file>